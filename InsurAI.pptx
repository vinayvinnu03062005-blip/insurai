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5" Type="http://schemas.openxmlformats.org/officeDocument/2006/relationships/custom-properties" Target="docProps/custom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Montserrat" pitchFamily="2" charset="0"/>
      <p:regular r:id="rId7"/>
    </p:embeddedFont>
    <p:embeddedFont>
      <p:font typeface="Telegraf" pitchFamily="2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864" y="-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 /><Relationship Id="rId3" Type="http://schemas.openxmlformats.org/officeDocument/2006/relationships/slide" Target="slides/slide2.xml" /><Relationship Id="rId7" Type="http://schemas.openxmlformats.org/officeDocument/2006/relationships/font" Target="fonts/font1.fntdata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07862">
            <a:off x="6110388" y="5304279"/>
            <a:ext cx="15048401" cy="6376760"/>
          </a:xfrm>
          <a:custGeom>
            <a:avLst/>
            <a:gdLst/>
            <a:ahLst/>
            <a:cxnLst/>
            <a:rect l="l" t="t" r="r" b="b"/>
            <a:pathLst>
              <a:path w="15048401" h="6376760">
                <a:moveTo>
                  <a:pt x="0" y="0"/>
                </a:moveTo>
                <a:lnTo>
                  <a:pt x="15048401" y="0"/>
                </a:lnTo>
                <a:lnTo>
                  <a:pt x="15048401" y="6376760"/>
                </a:lnTo>
                <a:lnTo>
                  <a:pt x="0" y="63767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-332478" y="7009521"/>
            <a:ext cx="9637365" cy="212578"/>
            <a:chOff x="0" y="0"/>
            <a:chExt cx="2538236" cy="559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38236" cy="55988"/>
            </a:xfrm>
            <a:custGeom>
              <a:avLst/>
              <a:gdLst/>
              <a:ahLst/>
              <a:cxnLst/>
              <a:rect l="l" t="t" r="r" b="b"/>
              <a:pathLst>
                <a:path w="2538236" h="55988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1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V="1">
            <a:off x="-641393" y="-1165054"/>
            <a:ext cx="6732105" cy="4030848"/>
          </a:xfrm>
          <a:custGeom>
            <a:avLst/>
            <a:gdLst/>
            <a:ahLst/>
            <a:cxnLst/>
            <a:rect l="l" t="t" r="r" b="b"/>
            <a:pathLst>
              <a:path w="6732105" h="4030848">
                <a:moveTo>
                  <a:pt x="0" y="4030848"/>
                </a:moveTo>
                <a:lnTo>
                  <a:pt x="6732105" y="4030848"/>
                </a:lnTo>
                <a:lnTo>
                  <a:pt x="6732105" y="0"/>
                </a:lnTo>
                <a:lnTo>
                  <a:pt x="0" y="0"/>
                </a:lnTo>
                <a:lnTo>
                  <a:pt x="0" y="40308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2954000" y="8053715"/>
            <a:ext cx="4484423" cy="1767792"/>
            <a:chOff x="0" y="-85725"/>
            <a:chExt cx="5071779" cy="2357057"/>
          </a:xfrm>
        </p:grpSpPr>
        <p:sp>
          <p:nvSpPr>
            <p:cNvPr id="8" name="TextBox 8"/>
            <p:cNvSpPr txBox="1"/>
            <p:nvPr/>
          </p:nvSpPr>
          <p:spPr>
            <a:xfrm>
              <a:off x="0" y="-85725"/>
              <a:ext cx="3405365" cy="5852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pc="124" dirty="0">
                  <a:solidFill>
                    <a:srgbClr val="343434"/>
                  </a:solidFill>
                  <a:latin typeface="Telegraf" panose="00000500000000000000"/>
                  <a:ea typeface="Telegraf" panose="00000500000000000000"/>
                  <a:cs typeface="Telegraf" panose="00000500000000000000"/>
                  <a:sym typeface="Telegraf" panose="00000500000000000000"/>
                </a:rPr>
                <a:t>Presented By 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54950" y="-85725"/>
              <a:ext cx="2016829" cy="23570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pc="124" dirty="0">
                  <a:solidFill>
                    <a:srgbClr val="343434"/>
                  </a:solidFill>
                  <a:latin typeface="Telegraf" panose="00000500000000000000"/>
                  <a:ea typeface="Telegraf" panose="00000500000000000000"/>
                  <a:cs typeface="Telegraf" panose="00000500000000000000"/>
                  <a:sym typeface="Telegraf" panose="00000500000000000000"/>
                </a:rPr>
                <a:t>Batch E</a:t>
              </a:r>
            </a:p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pc="124" dirty="0">
                  <a:solidFill>
                    <a:srgbClr val="343434"/>
                  </a:solidFill>
                  <a:latin typeface="Telegraf" panose="00000500000000000000"/>
                  <a:ea typeface="Telegraf" panose="00000500000000000000"/>
                  <a:cs typeface="Telegraf" panose="00000500000000000000"/>
                  <a:sym typeface="Telegraf" panose="00000500000000000000"/>
                </a:rPr>
                <a:t>:Vinay</a:t>
              </a:r>
            </a:p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pc="124" dirty="0">
                  <a:solidFill>
                    <a:srgbClr val="343434"/>
                  </a:solidFill>
                  <a:latin typeface="Telegraf" panose="00000500000000000000"/>
                  <a:ea typeface="Telegraf" panose="00000500000000000000"/>
                  <a:cs typeface="Telegraf" panose="00000500000000000000"/>
                  <a:sym typeface="Telegraf" panose="00000500000000000000"/>
                </a:rPr>
                <a:t>:</a:t>
              </a:r>
              <a:r>
                <a:rPr lang="en-US" sz="2500" spc="124" dirty="0" err="1">
                  <a:solidFill>
                    <a:srgbClr val="343434"/>
                  </a:solidFill>
                  <a:latin typeface="Telegraf" panose="00000500000000000000"/>
                  <a:ea typeface="Telegraf" panose="00000500000000000000"/>
                  <a:cs typeface="Telegraf" panose="00000500000000000000"/>
                  <a:sym typeface="Telegraf" panose="00000500000000000000"/>
                </a:rPr>
                <a:t>Swarsha</a:t>
              </a:r>
              <a:endParaRPr lang="en-US" sz="2500" spc="124" dirty="0">
                <a:solidFill>
                  <a:srgbClr val="343434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endParaRPr>
            </a:p>
            <a:p>
              <a:pPr algn="l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pc="124" dirty="0">
                  <a:solidFill>
                    <a:srgbClr val="343434"/>
                  </a:solidFill>
                  <a:latin typeface="Telegraf" panose="00000500000000000000"/>
                  <a:ea typeface="Telegraf" panose="00000500000000000000"/>
                  <a:cs typeface="Telegraf" panose="00000500000000000000"/>
                  <a:sym typeface="Telegraf" panose="00000500000000000000"/>
                </a:rPr>
                <a:t>:Maruthi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8704575" y="783695"/>
            <a:ext cx="3001947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INSUR AI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67703" y="783695"/>
            <a:ext cx="2191597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46639" y="783695"/>
            <a:ext cx="2191597" cy="351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164B82"/>
                </a:solidFill>
                <a:latin typeface="Telegraf Extra-Light"/>
                <a:ea typeface="Telegraf Extra-Light"/>
                <a:cs typeface="Telegraf Extra-Light"/>
                <a:sym typeface="Telegraf Extra-Light"/>
              </a:rPr>
              <a:t>Project.</a:t>
            </a:r>
          </a:p>
        </p:txBody>
      </p:sp>
      <p:grpSp>
        <p:nvGrpSpPr>
          <p:cNvPr id="13" name="Group 13"/>
          <p:cNvGrpSpPr/>
          <p:nvPr/>
        </p:nvGrpSpPr>
        <p:grpSpPr>
          <a:xfrm rot="5400000">
            <a:off x="12541988" y="-5341984"/>
            <a:ext cx="643045" cy="12669823"/>
            <a:chOff x="0" y="0"/>
            <a:chExt cx="169362" cy="33369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9362" cy="3336908"/>
            </a:xfrm>
            <a:custGeom>
              <a:avLst/>
              <a:gdLst/>
              <a:ahLst/>
              <a:cxnLst/>
              <a:rect l="l" t="t" r="r" b="b"/>
              <a:pathLst>
                <a:path w="169362" h="3336908">
                  <a:moveTo>
                    <a:pt x="84681" y="0"/>
                  </a:moveTo>
                  <a:lnTo>
                    <a:pt x="84681" y="0"/>
                  </a:lnTo>
                  <a:cubicBezTo>
                    <a:pt x="107140" y="0"/>
                    <a:pt x="128678" y="8922"/>
                    <a:pt x="144559" y="24802"/>
                  </a:cubicBezTo>
                  <a:cubicBezTo>
                    <a:pt x="160440" y="40683"/>
                    <a:pt x="169362" y="62222"/>
                    <a:pt x="169362" y="84681"/>
                  </a:cubicBezTo>
                  <a:lnTo>
                    <a:pt x="169362" y="3252227"/>
                  </a:lnTo>
                  <a:cubicBezTo>
                    <a:pt x="169362" y="3274686"/>
                    <a:pt x="160440" y="3296225"/>
                    <a:pt x="144559" y="3312106"/>
                  </a:cubicBezTo>
                  <a:cubicBezTo>
                    <a:pt x="128678" y="3327986"/>
                    <a:pt x="107140" y="3336908"/>
                    <a:pt x="84681" y="3336908"/>
                  </a:cubicBezTo>
                  <a:lnTo>
                    <a:pt x="84681" y="3336908"/>
                  </a:lnTo>
                  <a:cubicBezTo>
                    <a:pt x="37913" y="3336908"/>
                    <a:pt x="0" y="3298995"/>
                    <a:pt x="0" y="3252227"/>
                  </a:cubicBezTo>
                  <a:lnTo>
                    <a:pt x="0" y="84681"/>
                  </a:lnTo>
                  <a:cubicBezTo>
                    <a:pt x="0" y="37913"/>
                    <a:pt x="37913" y="0"/>
                    <a:pt x="84681" y="0"/>
                  </a:cubicBezTo>
                  <a:close/>
                </a:path>
              </a:pathLst>
            </a:custGeom>
            <a:ln w="19050" cap="rnd">
              <a:solidFill>
                <a:srgbClr val="164B82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169362" cy="3394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98303" y="3363144"/>
            <a:ext cx="3525807" cy="216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5"/>
              </a:lnSpc>
            </a:pPr>
            <a:endParaRPr/>
          </a:p>
          <a:p>
            <a:pPr algn="l">
              <a:lnSpc>
                <a:spcPts val="5685"/>
              </a:lnSpc>
            </a:pPr>
            <a:r>
              <a:rPr lang="en-US" sz="4060" spc="442">
                <a:solidFill>
                  <a:srgbClr val="343434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I</a:t>
            </a:r>
            <a:r>
              <a:rPr lang="en-US" sz="4060" spc="442">
                <a:solidFill>
                  <a:srgbClr val="001126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NSURAI   </a:t>
            </a:r>
            <a:r>
              <a:rPr lang="en-US" sz="4060" spc="442">
                <a:solidFill>
                  <a:srgbClr val="343434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          </a:t>
            </a:r>
          </a:p>
          <a:p>
            <a:pPr algn="l">
              <a:lnSpc>
                <a:spcPts val="5685"/>
              </a:lnSpc>
              <a:spcBef>
                <a:spcPct val="0"/>
              </a:spcBef>
            </a:pPr>
            <a:endParaRPr lang="en-US" sz="4060" spc="442">
              <a:solidFill>
                <a:srgbClr val="343434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39194" y="3363144"/>
            <a:ext cx="11424308" cy="216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5"/>
              </a:lnSpc>
            </a:pPr>
            <a:endParaRPr dirty="0"/>
          </a:p>
          <a:p>
            <a:pPr algn="l">
              <a:lnSpc>
                <a:spcPts val="5685"/>
              </a:lnSpc>
            </a:pPr>
            <a:r>
              <a:rPr lang="en-US" sz="4060" spc="442" dirty="0">
                <a:solidFill>
                  <a:srgbClr val="343434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- CORPORATE Policy Automation &amp; Intelligence System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45686" y="5029200"/>
            <a:ext cx="10717778" cy="1596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5"/>
              </a:lnSpc>
            </a:pPr>
            <a:endParaRPr/>
          </a:p>
          <a:p>
            <a:pPr algn="l">
              <a:lnSpc>
                <a:spcPts val="3640"/>
              </a:lnSpc>
            </a:pPr>
            <a:r>
              <a:rPr lang="en-US" sz="2600" spc="283">
                <a:solidFill>
                  <a:srgbClr val="343434"/>
                </a:solidFill>
                <a:latin typeface="Telegraf" panose="00000500000000000000"/>
                <a:ea typeface="Telegraf" panose="00000500000000000000"/>
                <a:cs typeface="Telegraf" panose="00000500000000000000"/>
                <a:sym typeface="Telegraf" panose="00000500000000000000"/>
              </a:rPr>
              <a:t> AI-POWERED INSURANce Automation Framework</a:t>
            </a:r>
          </a:p>
          <a:p>
            <a:pPr algn="l">
              <a:lnSpc>
                <a:spcPts val="3640"/>
              </a:lnSpc>
            </a:pPr>
            <a:endParaRPr lang="en-US" sz="2600" spc="283">
              <a:solidFill>
                <a:srgbClr val="343434"/>
              </a:solidFill>
              <a:latin typeface="Telegraf" panose="00000500000000000000"/>
              <a:ea typeface="Telegraf" panose="00000500000000000000"/>
              <a:cs typeface="Telegraf" panose="00000500000000000000"/>
              <a:sym typeface="Telegraf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19712" y="1994430"/>
            <a:ext cx="5879177" cy="6812433"/>
            <a:chOff x="0" y="0"/>
            <a:chExt cx="910838" cy="10554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0838" cy="1055424"/>
            </a:xfrm>
            <a:custGeom>
              <a:avLst/>
              <a:gdLst/>
              <a:ahLst/>
              <a:cxnLst/>
              <a:rect l="l" t="t" r="r" b="b"/>
              <a:pathLst>
                <a:path w="910838" h="1055424">
                  <a:moveTo>
                    <a:pt x="0" y="0"/>
                  </a:moveTo>
                  <a:lnTo>
                    <a:pt x="910838" y="0"/>
                  </a:lnTo>
                  <a:lnTo>
                    <a:pt x="910838" y="1055424"/>
                  </a:lnTo>
                  <a:lnTo>
                    <a:pt x="0" y="1055424"/>
                  </a:lnTo>
                  <a:close/>
                </a:path>
              </a:pathLst>
            </a:custGeom>
            <a:blipFill>
              <a:blip r:embed="rId2"/>
              <a:stretch>
                <a:fillRect t="-29" b="-29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4079946" y="682472"/>
            <a:ext cx="1504914" cy="588932"/>
            <a:chOff x="0" y="0"/>
            <a:chExt cx="396356" cy="1551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6356" cy="155110"/>
            </a:xfrm>
            <a:custGeom>
              <a:avLst/>
              <a:gdLst/>
              <a:ahLst/>
              <a:cxnLst/>
              <a:rect l="l" t="t" r="r" b="b"/>
              <a:pathLst>
                <a:path w="396356" h="155110">
                  <a:moveTo>
                    <a:pt x="77555" y="0"/>
                  </a:moveTo>
                  <a:lnTo>
                    <a:pt x="318801" y="0"/>
                  </a:lnTo>
                  <a:cubicBezTo>
                    <a:pt x="361633" y="0"/>
                    <a:pt x="396356" y="34722"/>
                    <a:pt x="396356" y="77555"/>
                  </a:cubicBezTo>
                  <a:lnTo>
                    <a:pt x="396356" y="77555"/>
                  </a:lnTo>
                  <a:cubicBezTo>
                    <a:pt x="396356" y="120387"/>
                    <a:pt x="361633" y="155110"/>
                    <a:pt x="318801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96356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30240" y="515471"/>
            <a:ext cx="10868784" cy="922933"/>
            <a:chOff x="0" y="0"/>
            <a:chExt cx="2862560" cy="2430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62561" cy="243077"/>
            </a:xfrm>
            <a:custGeom>
              <a:avLst/>
              <a:gdLst/>
              <a:ahLst/>
              <a:cxnLst/>
              <a:rect l="l" t="t" r="r" b="b"/>
              <a:pathLst>
                <a:path w="2862561" h="243077">
                  <a:moveTo>
                    <a:pt x="71231" y="0"/>
                  </a:moveTo>
                  <a:lnTo>
                    <a:pt x="2791330" y="0"/>
                  </a:lnTo>
                  <a:cubicBezTo>
                    <a:pt x="2810221" y="0"/>
                    <a:pt x="2828339" y="7505"/>
                    <a:pt x="2841697" y="20863"/>
                  </a:cubicBezTo>
                  <a:cubicBezTo>
                    <a:pt x="2855056" y="34221"/>
                    <a:pt x="2862561" y="52339"/>
                    <a:pt x="2862561" y="71231"/>
                  </a:cubicBezTo>
                  <a:lnTo>
                    <a:pt x="2862561" y="171846"/>
                  </a:lnTo>
                  <a:cubicBezTo>
                    <a:pt x="2862561" y="190738"/>
                    <a:pt x="2855056" y="208856"/>
                    <a:pt x="2841697" y="222214"/>
                  </a:cubicBezTo>
                  <a:cubicBezTo>
                    <a:pt x="2828339" y="235572"/>
                    <a:pt x="2810221" y="243077"/>
                    <a:pt x="2791330" y="243077"/>
                  </a:cubicBezTo>
                  <a:lnTo>
                    <a:pt x="71231" y="243077"/>
                  </a:lnTo>
                  <a:cubicBezTo>
                    <a:pt x="52339" y="243077"/>
                    <a:pt x="34221" y="235572"/>
                    <a:pt x="20863" y="222214"/>
                  </a:cubicBezTo>
                  <a:cubicBezTo>
                    <a:pt x="7505" y="208856"/>
                    <a:pt x="0" y="190738"/>
                    <a:pt x="0" y="171846"/>
                  </a:cubicBezTo>
                  <a:lnTo>
                    <a:pt x="0" y="71231"/>
                  </a:lnTo>
                  <a:cubicBezTo>
                    <a:pt x="0" y="52339"/>
                    <a:pt x="7505" y="34221"/>
                    <a:pt x="20863" y="20863"/>
                  </a:cubicBezTo>
                  <a:cubicBezTo>
                    <a:pt x="34221" y="7505"/>
                    <a:pt x="52339" y="0"/>
                    <a:pt x="71231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862560" cy="281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r>
                <a:rPr lang="en-US" sz="2050" b="1" spc="4">
                  <a:solidFill>
                    <a:srgbClr val="FD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INSURAI</a:t>
              </a:r>
              <a:r>
                <a:rPr lang="en-US" sz="2050" spc="4">
                  <a:solidFill>
                    <a:srgbClr val="FDFBF7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       </a:t>
              </a:r>
              <a:r>
                <a:rPr lang="en-US" sz="2050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CORPORATE POLICY AUTOMATION &amp; INTELLIGENCE SYSTEM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2401945"/>
            <a:ext cx="9759042" cy="250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80"/>
              </a:lnSpc>
            </a:pPr>
            <a:r>
              <a:rPr lang="en-US" sz="2000" spc="-127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The insurance industry relies heavily on manual and rule-based workflows across policy review, claims processing, fraud detection, and compliance monitoring, resulting in:</a:t>
            </a:r>
          </a:p>
          <a:p>
            <a:pPr algn="just">
              <a:lnSpc>
                <a:spcPts val="2480"/>
              </a:lnSpc>
            </a:pPr>
            <a:endParaRPr lang="en-US" sz="2000" spc="-127">
              <a:solidFill>
                <a:srgbClr val="000000"/>
              </a:solidFill>
              <a:latin typeface="Montserrat" panose="00000800000000000000"/>
              <a:ea typeface="Montserrat" panose="00000800000000000000"/>
              <a:cs typeface="Montserrat" panose="00000800000000000000"/>
              <a:sym typeface="Montserrat" panose="00000800000000000000"/>
            </a:endParaRPr>
          </a:p>
          <a:p>
            <a:pPr marL="431800" lvl="1" indent="-215900" algn="just">
              <a:lnSpc>
                <a:spcPts val="2480"/>
              </a:lnSpc>
              <a:buFont typeface="Arial" panose="020B0604020202090204"/>
              <a:buChar char="•"/>
            </a:pPr>
            <a:r>
              <a:rPr lang="en-US" sz="2000" spc="-127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High operational costs ($45–60 per policy)  </a:t>
            </a:r>
          </a:p>
          <a:p>
            <a:pPr marL="431800" lvl="1" indent="-215900" algn="just">
              <a:lnSpc>
                <a:spcPts val="2480"/>
              </a:lnSpc>
              <a:buFont typeface="Arial" panose="020B0604020202090204"/>
              <a:buChar char="•"/>
            </a:pPr>
            <a:r>
              <a:rPr lang="en-US" sz="2000" spc="-127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  Slow processing times (3–5 hours per policy)    </a:t>
            </a:r>
          </a:p>
          <a:p>
            <a:pPr marL="431800" lvl="1" indent="-215900" algn="just">
              <a:lnSpc>
                <a:spcPts val="2480"/>
              </a:lnSpc>
              <a:buFont typeface="Arial" panose="020B0604020202090204"/>
              <a:buChar char="•"/>
            </a:pPr>
            <a:r>
              <a:rPr lang="en-US" sz="2000" spc="-127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 Limited fraud detection (~45% accuracy)    </a:t>
            </a:r>
          </a:p>
          <a:p>
            <a:pPr marL="431800" lvl="1" indent="-215900" algn="just">
              <a:lnSpc>
                <a:spcPts val="2480"/>
              </a:lnSpc>
              <a:buFont typeface="Arial" panose="020B0604020202090204"/>
              <a:buChar char="•"/>
            </a:pPr>
            <a:r>
              <a:rPr lang="en-US" sz="2000" spc="-127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 Complex compliance (500+ regulatory rules)</a:t>
            </a:r>
          </a:p>
          <a:p>
            <a:pPr algn="just">
              <a:lnSpc>
                <a:spcPts val="2480"/>
              </a:lnSpc>
            </a:pPr>
            <a:endParaRPr lang="en-US" sz="2000" spc="-127">
              <a:solidFill>
                <a:srgbClr val="000000"/>
              </a:solidFill>
              <a:latin typeface="Montserrat" panose="00000800000000000000"/>
              <a:ea typeface="Montserrat" panose="00000800000000000000"/>
              <a:cs typeface="Montserrat" panose="00000800000000000000"/>
              <a:sym typeface="Montserrat" panose="0000080000000000000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1814788"/>
            <a:ext cx="3939500" cy="35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5"/>
              </a:lnSpc>
            </a:pPr>
            <a:r>
              <a:rPr lang="en-US" sz="2400" spc="-15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Problem Statement 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5808161"/>
            <a:ext cx="5796575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480"/>
              </a:lnSpc>
            </a:pPr>
            <a:r>
              <a:rPr lang="en-US" sz="2000" spc="-127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During my research, I analyzed current approaches:</a:t>
            </a:r>
          </a:p>
          <a:p>
            <a:pPr algn="just">
              <a:lnSpc>
                <a:spcPts val="2480"/>
              </a:lnSpc>
            </a:pPr>
            <a:endParaRPr lang="en-US" sz="2000" spc="-127">
              <a:solidFill>
                <a:srgbClr val="000000"/>
              </a:solidFill>
              <a:latin typeface="Montserrat" panose="00000800000000000000"/>
              <a:ea typeface="Montserrat" panose="00000800000000000000"/>
              <a:cs typeface="Montserrat" panose="00000800000000000000"/>
              <a:sym typeface="Montserrat" panose="000008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287385"/>
            <a:ext cx="5456784" cy="73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5"/>
              </a:lnSpc>
            </a:pPr>
            <a:r>
              <a:rPr lang="en-US" sz="2400" spc="-15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EXISTING SOLUTIONS &amp; LIMITATIONS</a:t>
            </a:r>
          </a:p>
          <a:p>
            <a:pPr algn="just">
              <a:lnSpc>
                <a:spcPts val="2975"/>
              </a:lnSpc>
            </a:pPr>
            <a:endParaRPr lang="en-US" sz="2400" spc="-153">
              <a:solidFill>
                <a:srgbClr val="000000"/>
              </a:solidFill>
              <a:latin typeface="Montserrat" panose="00000800000000000000"/>
              <a:ea typeface="Montserrat" panose="00000800000000000000"/>
              <a:cs typeface="Montserrat" panose="00000800000000000000"/>
              <a:sym typeface="Montserrat" panose="00000800000000000000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922991" y="6246743"/>
            <a:ext cx="5814497" cy="3544848"/>
            <a:chOff x="0" y="0"/>
            <a:chExt cx="7752663" cy="4726464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7752663" cy="4675434"/>
              <a:chOff x="0" y="0"/>
              <a:chExt cx="1531390" cy="92354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531390" cy="923542"/>
              </a:xfrm>
              <a:custGeom>
                <a:avLst/>
                <a:gdLst/>
                <a:ahLst/>
                <a:cxnLst/>
                <a:rect l="l" t="t" r="r" b="b"/>
                <a:pathLst>
                  <a:path w="1531390" h="923542">
                    <a:moveTo>
                      <a:pt x="67906" y="0"/>
                    </a:moveTo>
                    <a:lnTo>
                      <a:pt x="1463485" y="0"/>
                    </a:lnTo>
                    <a:cubicBezTo>
                      <a:pt x="1481494" y="0"/>
                      <a:pt x="1498766" y="7154"/>
                      <a:pt x="1511501" y="19889"/>
                    </a:cubicBezTo>
                    <a:cubicBezTo>
                      <a:pt x="1524236" y="32624"/>
                      <a:pt x="1531390" y="49896"/>
                      <a:pt x="1531390" y="67906"/>
                    </a:cubicBezTo>
                    <a:lnTo>
                      <a:pt x="1531390" y="855637"/>
                    </a:lnTo>
                    <a:cubicBezTo>
                      <a:pt x="1531390" y="873646"/>
                      <a:pt x="1524236" y="890918"/>
                      <a:pt x="1511501" y="903653"/>
                    </a:cubicBezTo>
                    <a:cubicBezTo>
                      <a:pt x="1498766" y="916388"/>
                      <a:pt x="1481494" y="923542"/>
                      <a:pt x="1463485" y="923542"/>
                    </a:cubicBezTo>
                    <a:lnTo>
                      <a:pt x="67906" y="923542"/>
                    </a:lnTo>
                    <a:cubicBezTo>
                      <a:pt x="49896" y="923542"/>
                      <a:pt x="32624" y="916388"/>
                      <a:pt x="19889" y="903653"/>
                    </a:cubicBezTo>
                    <a:cubicBezTo>
                      <a:pt x="7154" y="890918"/>
                      <a:pt x="0" y="873646"/>
                      <a:pt x="0" y="855637"/>
                    </a:cubicBezTo>
                    <a:lnTo>
                      <a:pt x="0" y="67906"/>
                    </a:lnTo>
                    <a:cubicBezTo>
                      <a:pt x="0" y="49896"/>
                      <a:pt x="7154" y="32624"/>
                      <a:pt x="19889" y="19889"/>
                    </a:cubicBezTo>
                    <a:cubicBezTo>
                      <a:pt x="32624" y="7154"/>
                      <a:pt x="49896" y="0"/>
                      <a:pt x="67906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38100"/>
                <a:ext cx="1531390" cy="96164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389752" y="231545"/>
              <a:ext cx="6928130" cy="4494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930"/>
                </a:lnSpc>
              </a:pPr>
              <a:endParaRPr/>
            </a:p>
            <a:p>
              <a:pPr algn="just">
                <a:lnSpc>
                  <a:spcPts val="1775"/>
                </a:lnSpc>
              </a:pPr>
              <a:r>
                <a:rPr lang="en-US" sz="1430" spc="-91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Manual Processing Systems </a:t>
              </a:r>
            </a:p>
            <a:p>
              <a:pPr algn="just">
                <a:lnSpc>
                  <a:spcPts val="1615"/>
                </a:lnSpc>
              </a:pPr>
              <a:r>
                <a:rPr lang="en-US" sz="1300" spc="-8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→ Time-consuming, prone to human errors</a:t>
              </a:r>
            </a:p>
            <a:p>
              <a:pPr algn="just">
                <a:lnSpc>
                  <a:spcPts val="1615"/>
                </a:lnSpc>
              </a:pPr>
              <a:endParaRPr lang="en-US" sz="1300" spc="-8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1775"/>
                </a:lnSpc>
              </a:pPr>
              <a:r>
                <a:rPr lang="en-US" sz="1430" spc="-91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Basic Automation Tools (e.g., Guidewire, Duck Creek)</a:t>
              </a:r>
            </a:p>
            <a:p>
              <a:pPr algn="just">
                <a:lnSpc>
                  <a:spcPts val="1615"/>
                </a:lnSpc>
              </a:pPr>
              <a:r>
                <a:rPr lang="en-US" sz="1300" spc="-8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→ Primarily rule-based with limited AI capabilities            </a:t>
              </a:r>
            </a:p>
            <a:p>
              <a:pPr algn="just">
                <a:lnSpc>
                  <a:spcPts val="1615"/>
                </a:lnSpc>
              </a:pPr>
              <a:r>
                <a:rPr lang="en-US" sz="1300" spc="-8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→ High enterprise licensing costs</a:t>
              </a:r>
            </a:p>
            <a:p>
              <a:pPr algn="just">
                <a:lnSpc>
                  <a:spcPts val="1615"/>
                </a:lnSpc>
              </a:pPr>
              <a:endParaRPr lang="en-US" sz="1300" spc="-8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1775"/>
                </a:lnSpc>
              </a:pPr>
              <a:r>
                <a:rPr lang="en-US" sz="1430" spc="-91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Specialized ML Solutions (e.g., Shift Technology)</a:t>
              </a:r>
            </a:p>
            <a:p>
              <a:pPr algn="just">
                <a:lnSpc>
                  <a:spcPts val="1615"/>
                </a:lnSpc>
              </a:pPr>
              <a:r>
                <a:rPr lang="en-US" sz="1300" spc="-8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→ Focus on single functions (fraud detection only)</a:t>
              </a:r>
            </a:p>
            <a:p>
              <a:pPr algn="just">
                <a:lnSpc>
                  <a:spcPts val="1615"/>
                </a:lnSpc>
              </a:pPr>
              <a:r>
                <a:rPr lang="en-US" sz="1300" spc="-8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→ Lack end-to-end integration  </a:t>
              </a:r>
            </a:p>
            <a:p>
              <a:pPr algn="just">
                <a:lnSpc>
                  <a:spcPts val="1615"/>
                </a:lnSpc>
              </a:pPr>
              <a:endParaRPr lang="en-US" sz="1300" spc="-8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1775"/>
                </a:lnSpc>
              </a:pPr>
              <a:r>
                <a:rPr lang="en-US" sz="1430" spc="-91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Identified Gap: No comprehensive, AI-driven platform integrating policy, claims, fraud, and compliance in one system</a:t>
              </a:r>
            </a:p>
            <a:p>
              <a:pPr algn="just">
                <a:lnSpc>
                  <a:spcPts val="1615"/>
                </a:lnSpc>
              </a:pPr>
              <a:endParaRPr lang="en-US" sz="1430" spc="-91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1875"/>
                </a:lnSpc>
              </a:pPr>
              <a:endParaRPr lang="en-US" sz="1430" spc="-91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537462" y="6651351"/>
            <a:ext cx="5608997" cy="2735630"/>
            <a:chOff x="0" y="0"/>
            <a:chExt cx="7478663" cy="3647507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7478663" cy="3647507"/>
              <a:chOff x="0" y="0"/>
              <a:chExt cx="1477267" cy="72049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477267" cy="720495"/>
              </a:xfrm>
              <a:custGeom>
                <a:avLst/>
                <a:gdLst/>
                <a:ahLst/>
                <a:cxnLst/>
                <a:rect l="l" t="t" r="r" b="b"/>
                <a:pathLst>
                  <a:path w="1477267" h="720495">
                    <a:moveTo>
                      <a:pt x="70394" y="0"/>
                    </a:moveTo>
                    <a:lnTo>
                      <a:pt x="1406873" y="0"/>
                    </a:lnTo>
                    <a:cubicBezTo>
                      <a:pt x="1425543" y="0"/>
                      <a:pt x="1443448" y="7416"/>
                      <a:pt x="1456649" y="20618"/>
                    </a:cubicBezTo>
                    <a:cubicBezTo>
                      <a:pt x="1469850" y="33819"/>
                      <a:pt x="1477267" y="51724"/>
                      <a:pt x="1477267" y="70394"/>
                    </a:cubicBezTo>
                    <a:lnTo>
                      <a:pt x="1477267" y="650102"/>
                    </a:lnTo>
                    <a:cubicBezTo>
                      <a:pt x="1477267" y="668771"/>
                      <a:pt x="1469850" y="686676"/>
                      <a:pt x="1456649" y="699877"/>
                    </a:cubicBezTo>
                    <a:cubicBezTo>
                      <a:pt x="1443448" y="713079"/>
                      <a:pt x="1425543" y="720495"/>
                      <a:pt x="1406873" y="720495"/>
                    </a:cubicBezTo>
                    <a:lnTo>
                      <a:pt x="70394" y="720495"/>
                    </a:lnTo>
                    <a:cubicBezTo>
                      <a:pt x="51724" y="720495"/>
                      <a:pt x="33819" y="713079"/>
                      <a:pt x="20618" y="699877"/>
                    </a:cubicBezTo>
                    <a:cubicBezTo>
                      <a:pt x="7416" y="686676"/>
                      <a:pt x="0" y="668771"/>
                      <a:pt x="0" y="650102"/>
                    </a:cubicBezTo>
                    <a:lnTo>
                      <a:pt x="0" y="70394"/>
                    </a:lnTo>
                    <a:cubicBezTo>
                      <a:pt x="0" y="51724"/>
                      <a:pt x="7416" y="33819"/>
                      <a:pt x="20618" y="20618"/>
                    </a:cubicBezTo>
                    <a:cubicBezTo>
                      <a:pt x="33819" y="7416"/>
                      <a:pt x="51724" y="0"/>
                      <a:pt x="70394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477267" cy="75859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550575" y="367184"/>
              <a:ext cx="6244104" cy="30875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985"/>
                </a:lnSpc>
              </a:pPr>
              <a:r>
                <a:rPr lang="en-US" sz="1600" spc="-102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INSURAI is an AI-powered automation framework integrating:</a:t>
              </a:r>
            </a:p>
            <a:p>
              <a:pPr algn="just">
                <a:lnSpc>
                  <a:spcPts val="1985"/>
                </a:lnSpc>
              </a:pPr>
              <a:endParaRPr lang="en-US" sz="1600" spc="-102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marL="302260" lvl="1" indent="-151130" algn="just">
                <a:lnSpc>
                  <a:spcPts val="1735"/>
                </a:lnSpc>
                <a:buFont typeface="Arial" panose="020B0604020202090204"/>
                <a:buChar char="•"/>
              </a:pPr>
              <a:r>
                <a:rPr lang="en-US" sz="1400" spc="-89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Policy Intelligence (NLP-based document analysis)</a:t>
              </a:r>
            </a:p>
            <a:p>
              <a:pPr marL="302260" lvl="1" indent="-151130" algn="just">
                <a:lnSpc>
                  <a:spcPts val="1735"/>
                </a:lnSpc>
                <a:buFont typeface="Arial" panose="020B0604020202090204"/>
                <a:buChar char="•"/>
              </a:pPr>
              <a:r>
                <a:rPr lang="en-US" sz="1400" spc="-89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Smart Claims Processing (ML-driven validation)    </a:t>
              </a:r>
            </a:p>
            <a:p>
              <a:pPr marL="302260" lvl="1" indent="-151130" algn="just">
                <a:lnSpc>
                  <a:spcPts val="1735"/>
                </a:lnSpc>
                <a:buFont typeface="Arial" panose="020B0604020202090204"/>
                <a:buChar char="•"/>
              </a:pPr>
              <a:r>
                <a:rPr lang="en-US" sz="1400" spc="-89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Fraud Risk Scoring (Real-time detection, targeting 85%+)    </a:t>
              </a:r>
            </a:p>
            <a:p>
              <a:pPr marL="302260" lvl="1" indent="-151130" algn="just">
                <a:lnSpc>
                  <a:spcPts val="1735"/>
                </a:lnSpc>
                <a:buFont typeface="Arial" panose="020B0604020202090204"/>
                <a:buChar char="•"/>
              </a:pPr>
              <a:r>
                <a:rPr lang="en-US" sz="1400" spc="-89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Compliance Automation (Continuous monitoring)</a:t>
              </a:r>
            </a:p>
            <a:p>
              <a:pPr algn="just">
                <a:lnSpc>
                  <a:spcPts val="1735"/>
                </a:lnSpc>
              </a:pPr>
              <a:endParaRPr lang="en-US" sz="1400" spc="-89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2145"/>
                </a:lnSpc>
              </a:pPr>
              <a:endParaRPr lang="en-US" sz="1400" spc="-89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745292" y="6061272"/>
            <a:ext cx="4717434" cy="73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5"/>
              </a:lnSpc>
            </a:pPr>
            <a:r>
              <a:rPr lang="en-US" sz="2400" spc="-15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PROPOSED SOLUTION – INSURAI</a:t>
            </a:r>
          </a:p>
          <a:p>
            <a:pPr algn="just">
              <a:lnSpc>
                <a:spcPts val="2975"/>
              </a:lnSpc>
            </a:pPr>
            <a:endParaRPr lang="en-US" sz="2400" spc="-153">
              <a:solidFill>
                <a:srgbClr val="000000"/>
              </a:solidFill>
              <a:latin typeface="Montserrat" panose="00000800000000000000"/>
              <a:ea typeface="Montserrat" panose="00000800000000000000"/>
              <a:cs typeface="Montserrat" panose="00000800000000000000"/>
              <a:sym typeface="Montserrat" panose="000008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79946" y="682472"/>
            <a:ext cx="1504914" cy="588932"/>
            <a:chOff x="0" y="0"/>
            <a:chExt cx="396356" cy="155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356" cy="155110"/>
            </a:xfrm>
            <a:custGeom>
              <a:avLst/>
              <a:gdLst/>
              <a:ahLst/>
              <a:cxnLst/>
              <a:rect l="l" t="t" r="r" b="b"/>
              <a:pathLst>
                <a:path w="396356" h="155110">
                  <a:moveTo>
                    <a:pt x="77555" y="0"/>
                  </a:moveTo>
                  <a:lnTo>
                    <a:pt x="318801" y="0"/>
                  </a:lnTo>
                  <a:cubicBezTo>
                    <a:pt x="361633" y="0"/>
                    <a:pt x="396356" y="34722"/>
                    <a:pt x="396356" y="77555"/>
                  </a:cubicBezTo>
                  <a:lnTo>
                    <a:pt x="396356" y="77555"/>
                  </a:lnTo>
                  <a:cubicBezTo>
                    <a:pt x="396356" y="120387"/>
                    <a:pt x="361633" y="155110"/>
                    <a:pt x="318801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6356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0240" y="515471"/>
            <a:ext cx="10868784" cy="922933"/>
            <a:chOff x="0" y="0"/>
            <a:chExt cx="2862560" cy="243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62561" cy="243077"/>
            </a:xfrm>
            <a:custGeom>
              <a:avLst/>
              <a:gdLst/>
              <a:ahLst/>
              <a:cxnLst/>
              <a:rect l="l" t="t" r="r" b="b"/>
              <a:pathLst>
                <a:path w="2862561" h="243077">
                  <a:moveTo>
                    <a:pt x="71231" y="0"/>
                  </a:moveTo>
                  <a:lnTo>
                    <a:pt x="2791330" y="0"/>
                  </a:lnTo>
                  <a:cubicBezTo>
                    <a:pt x="2810221" y="0"/>
                    <a:pt x="2828339" y="7505"/>
                    <a:pt x="2841697" y="20863"/>
                  </a:cubicBezTo>
                  <a:cubicBezTo>
                    <a:pt x="2855056" y="34221"/>
                    <a:pt x="2862561" y="52339"/>
                    <a:pt x="2862561" y="71231"/>
                  </a:cubicBezTo>
                  <a:lnTo>
                    <a:pt x="2862561" y="171846"/>
                  </a:lnTo>
                  <a:cubicBezTo>
                    <a:pt x="2862561" y="190738"/>
                    <a:pt x="2855056" y="208856"/>
                    <a:pt x="2841697" y="222214"/>
                  </a:cubicBezTo>
                  <a:cubicBezTo>
                    <a:pt x="2828339" y="235572"/>
                    <a:pt x="2810221" y="243077"/>
                    <a:pt x="2791330" y="243077"/>
                  </a:cubicBezTo>
                  <a:lnTo>
                    <a:pt x="71231" y="243077"/>
                  </a:lnTo>
                  <a:cubicBezTo>
                    <a:pt x="52339" y="243077"/>
                    <a:pt x="34221" y="235572"/>
                    <a:pt x="20863" y="222214"/>
                  </a:cubicBezTo>
                  <a:cubicBezTo>
                    <a:pt x="7505" y="208856"/>
                    <a:pt x="0" y="190738"/>
                    <a:pt x="0" y="171846"/>
                  </a:cubicBezTo>
                  <a:lnTo>
                    <a:pt x="0" y="71231"/>
                  </a:lnTo>
                  <a:cubicBezTo>
                    <a:pt x="0" y="52339"/>
                    <a:pt x="7505" y="34221"/>
                    <a:pt x="20863" y="20863"/>
                  </a:cubicBezTo>
                  <a:cubicBezTo>
                    <a:pt x="34221" y="7505"/>
                    <a:pt x="52339" y="0"/>
                    <a:pt x="71231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62560" cy="281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r>
                <a:rPr lang="en-US" sz="2050" b="1" spc="4">
                  <a:solidFill>
                    <a:srgbClr val="FD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INSURAI</a:t>
              </a:r>
              <a:r>
                <a:rPr lang="en-US" sz="2050" spc="4">
                  <a:solidFill>
                    <a:srgbClr val="FDFBF7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       </a:t>
              </a:r>
              <a:r>
                <a:rPr lang="en-US" sz="2050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CORPORATE POLICY AUTOMATION &amp; INTELLIGENCE SYSTEM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79946" y="2452868"/>
            <a:ext cx="3939500" cy="35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75"/>
              </a:lnSpc>
            </a:pPr>
            <a:r>
              <a:rPr lang="en-US" sz="2400" spc="-15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INSURAI ARCHITECTURE 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186960" y="3255520"/>
            <a:ext cx="9914079" cy="5636663"/>
            <a:chOff x="0" y="0"/>
            <a:chExt cx="13218772" cy="7515551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818641"/>
              <a:ext cx="5448419" cy="1475485"/>
              <a:chOff x="0" y="0"/>
              <a:chExt cx="1076231" cy="29145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076231" cy="291454"/>
              </a:xfrm>
              <a:custGeom>
                <a:avLst/>
                <a:gdLst/>
                <a:ahLst/>
                <a:cxnLst/>
                <a:rect l="l" t="t" r="r" b="b"/>
                <a:pathLst>
                  <a:path w="1076231" h="291454">
                    <a:moveTo>
                      <a:pt x="96624" y="0"/>
                    </a:moveTo>
                    <a:lnTo>
                      <a:pt x="979607" y="0"/>
                    </a:lnTo>
                    <a:cubicBezTo>
                      <a:pt x="1005233" y="0"/>
                      <a:pt x="1029810" y="10180"/>
                      <a:pt x="1047930" y="28301"/>
                    </a:cubicBezTo>
                    <a:cubicBezTo>
                      <a:pt x="1066051" y="46421"/>
                      <a:pt x="1076231" y="70998"/>
                      <a:pt x="1076231" y="96624"/>
                    </a:cubicBezTo>
                    <a:lnTo>
                      <a:pt x="1076231" y="194829"/>
                    </a:lnTo>
                    <a:cubicBezTo>
                      <a:pt x="1076231" y="220456"/>
                      <a:pt x="1066051" y="245033"/>
                      <a:pt x="1047930" y="263153"/>
                    </a:cubicBezTo>
                    <a:cubicBezTo>
                      <a:pt x="1029810" y="281274"/>
                      <a:pt x="1005233" y="291454"/>
                      <a:pt x="979607" y="291454"/>
                    </a:cubicBezTo>
                    <a:lnTo>
                      <a:pt x="96624" y="291454"/>
                    </a:lnTo>
                    <a:cubicBezTo>
                      <a:pt x="70998" y="291454"/>
                      <a:pt x="46421" y="281274"/>
                      <a:pt x="28301" y="263153"/>
                    </a:cubicBezTo>
                    <a:cubicBezTo>
                      <a:pt x="10180" y="245033"/>
                      <a:pt x="0" y="220456"/>
                      <a:pt x="0" y="194829"/>
                    </a:cubicBezTo>
                    <a:lnTo>
                      <a:pt x="0" y="96624"/>
                    </a:lnTo>
                    <a:cubicBezTo>
                      <a:pt x="0" y="70998"/>
                      <a:pt x="10180" y="46421"/>
                      <a:pt x="28301" y="28301"/>
                    </a:cubicBezTo>
                    <a:cubicBezTo>
                      <a:pt x="46421" y="10180"/>
                      <a:pt x="70998" y="0"/>
                      <a:pt x="96624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076231" cy="3295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53544" y="1015491"/>
              <a:ext cx="4722380" cy="12786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905"/>
                </a:lnSpc>
              </a:pPr>
              <a:r>
                <a:rPr lang="en-US" sz="1535" b="1" spc="-98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Presentation Layer</a:t>
              </a:r>
            </a:p>
            <a:p>
              <a:pPr algn="just">
                <a:lnSpc>
                  <a:spcPts val="1905"/>
                </a:lnSpc>
              </a:pPr>
              <a:endParaRPr lang="en-US" sz="1535" b="1" spc="-9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905"/>
                </a:lnSpc>
              </a:pPr>
              <a:r>
                <a:rPr lang="en-US" sz="1535" spc="-98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React UI  •  Admin Dashboard  •  Analytics      </a:t>
              </a:r>
            </a:p>
            <a:p>
              <a:pPr algn="just">
                <a:lnSpc>
                  <a:spcPts val="1905"/>
                </a:lnSpc>
              </a:pPr>
              <a:endParaRPr lang="en-US" sz="1535" spc="-98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0" y="3509576"/>
              <a:ext cx="5448419" cy="1475485"/>
              <a:chOff x="0" y="0"/>
              <a:chExt cx="1076231" cy="29145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076231" cy="291454"/>
              </a:xfrm>
              <a:custGeom>
                <a:avLst/>
                <a:gdLst/>
                <a:ahLst/>
                <a:cxnLst/>
                <a:rect l="l" t="t" r="r" b="b"/>
                <a:pathLst>
                  <a:path w="1076231" h="291454">
                    <a:moveTo>
                      <a:pt x="96624" y="0"/>
                    </a:moveTo>
                    <a:lnTo>
                      <a:pt x="979607" y="0"/>
                    </a:lnTo>
                    <a:cubicBezTo>
                      <a:pt x="1005233" y="0"/>
                      <a:pt x="1029810" y="10180"/>
                      <a:pt x="1047930" y="28301"/>
                    </a:cubicBezTo>
                    <a:cubicBezTo>
                      <a:pt x="1066051" y="46421"/>
                      <a:pt x="1076231" y="70998"/>
                      <a:pt x="1076231" y="96624"/>
                    </a:cubicBezTo>
                    <a:lnTo>
                      <a:pt x="1076231" y="194829"/>
                    </a:lnTo>
                    <a:cubicBezTo>
                      <a:pt x="1076231" y="220456"/>
                      <a:pt x="1066051" y="245033"/>
                      <a:pt x="1047930" y="263153"/>
                    </a:cubicBezTo>
                    <a:cubicBezTo>
                      <a:pt x="1029810" y="281274"/>
                      <a:pt x="1005233" y="291454"/>
                      <a:pt x="979607" y="291454"/>
                    </a:cubicBezTo>
                    <a:lnTo>
                      <a:pt x="96624" y="291454"/>
                    </a:lnTo>
                    <a:cubicBezTo>
                      <a:pt x="70998" y="291454"/>
                      <a:pt x="46421" y="281274"/>
                      <a:pt x="28301" y="263153"/>
                    </a:cubicBezTo>
                    <a:cubicBezTo>
                      <a:pt x="10180" y="245033"/>
                      <a:pt x="0" y="220456"/>
                      <a:pt x="0" y="194829"/>
                    </a:cubicBezTo>
                    <a:lnTo>
                      <a:pt x="0" y="96624"/>
                    </a:lnTo>
                    <a:cubicBezTo>
                      <a:pt x="0" y="70998"/>
                      <a:pt x="10180" y="46421"/>
                      <a:pt x="28301" y="28301"/>
                    </a:cubicBezTo>
                    <a:cubicBezTo>
                      <a:pt x="46421" y="10180"/>
                      <a:pt x="70998" y="0"/>
                      <a:pt x="96624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076231" cy="3295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48497" y="3695263"/>
              <a:ext cx="5099922" cy="1334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985"/>
                </a:lnSpc>
              </a:pPr>
              <a:r>
                <a:rPr lang="en-US" sz="1600" b="1" spc="-10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API Layer — Spring Boot</a:t>
              </a:r>
            </a:p>
            <a:p>
              <a:pPr algn="just">
                <a:lnSpc>
                  <a:spcPts val="1985"/>
                </a:lnSpc>
              </a:pPr>
              <a:endParaRPr lang="en-US" sz="1600" b="1" spc="-10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985"/>
                </a:lnSpc>
              </a:pPr>
              <a:r>
                <a:rPr lang="en-US" sz="1600" spc="-102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REST Controllers  •  JWT Security  •  RBAC                </a:t>
              </a:r>
            </a:p>
            <a:p>
              <a:pPr algn="just">
                <a:lnSpc>
                  <a:spcPts val="2145"/>
                </a:lnSpc>
              </a:pPr>
              <a:endParaRPr lang="en-US" sz="1600" spc="-102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0524" y="6064725"/>
              <a:ext cx="5448419" cy="1434513"/>
              <a:chOff x="0" y="0"/>
              <a:chExt cx="3289394" cy="86606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3289394" cy="866064"/>
              </a:xfrm>
              <a:custGeom>
                <a:avLst/>
                <a:gdLst/>
                <a:ahLst/>
                <a:cxnLst/>
                <a:rect l="l" t="t" r="r" b="b"/>
                <a:pathLst>
                  <a:path w="3289394" h="866064">
                    <a:moveTo>
                      <a:pt x="96624" y="0"/>
                    </a:moveTo>
                    <a:lnTo>
                      <a:pt x="3192769" y="0"/>
                    </a:lnTo>
                    <a:cubicBezTo>
                      <a:pt x="3246134" y="0"/>
                      <a:pt x="3289394" y="43260"/>
                      <a:pt x="3289394" y="96624"/>
                    </a:cubicBezTo>
                    <a:lnTo>
                      <a:pt x="3289394" y="769439"/>
                    </a:lnTo>
                    <a:cubicBezTo>
                      <a:pt x="3289394" y="795066"/>
                      <a:pt x="3279214" y="819643"/>
                      <a:pt x="3261093" y="837763"/>
                    </a:cubicBezTo>
                    <a:cubicBezTo>
                      <a:pt x="3242973" y="855884"/>
                      <a:pt x="3218396" y="866064"/>
                      <a:pt x="3192769" y="866064"/>
                    </a:cubicBezTo>
                    <a:lnTo>
                      <a:pt x="96624" y="866064"/>
                    </a:lnTo>
                    <a:cubicBezTo>
                      <a:pt x="70998" y="866064"/>
                      <a:pt x="46421" y="855884"/>
                      <a:pt x="28301" y="837763"/>
                    </a:cubicBezTo>
                    <a:cubicBezTo>
                      <a:pt x="10180" y="819643"/>
                      <a:pt x="0" y="795066"/>
                      <a:pt x="0" y="769439"/>
                    </a:cubicBezTo>
                    <a:lnTo>
                      <a:pt x="0" y="96624"/>
                    </a:lnTo>
                    <a:cubicBezTo>
                      <a:pt x="0" y="70998"/>
                      <a:pt x="10180" y="46421"/>
                      <a:pt x="28301" y="28301"/>
                    </a:cubicBezTo>
                    <a:cubicBezTo>
                      <a:pt x="46421" y="10180"/>
                      <a:pt x="70998" y="0"/>
                      <a:pt x="96624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0" y="-38100"/>
                <a:ext cx="3289394" cy="904164"/>
              </a:xfrm>
              <a:prstGeom prst="rect">
                <a:avLst/>
              </a:prstGeom>
            </p:spPr>
            <p:txBody>
              <a:bodyPr lIns="16621" tIns="16621" rIns="16621" bIns="16621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453544" y="6396618"/>
              <a:ext cx="4994876" cy="1007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985"/>
                </a:lnSpc>
              </a:pPr>
              <a:r>
                <a:rPr lang="en-US" sz="1600" b="1" spc="-10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Service Layer —</a:t>
              </a:r>
              <a:r>
                <a:rPr lang="en-US" sz="1600" spc="-102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Business Logic</a:t>
              </a:r>
            </a:p>
            <a:p>
              <a:pPr algn="just">
                <a:lnSpc>
                  <a:spcPts val="1145"/>
                </a:lnSpc>
              </a:pPr>
              <a:endParaRPr lang="en-US" sz="1600" spc="-102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1765"/>
                </a:lnSpc>
              </a:pPr>
              <a:r>
                <a:rPr lang="en-US" sz="1425" spc="-91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Policy Services  •  Claims  •  Fraud  •  Compliance </a:t>
              </a:r>
            </a:p>
            <a:p>
              <a:pPr algn="just">
                <a:lnSpc>
                  <a:spcPts val="1240"/>
                </a:lnSpc>
              </a:pPr>
              <a:endParaRPr lang="en-US" sz="1425" spc="-91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  <p:sp>
          <p:nvSpPr>
            <p:cNvPr id="22" name="AutoShape 22"/>
            <p:cNvSpPr/>
            <p:nvPr/>
          </p:nvSpPr>
          <p:spPr>
            <a:xfrm flipH="1">
              <a:off x="2724210" y="2294126"/>
              <a:ext cx="0" cy="121545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2765254" y="5030183"/>
              <a:ext cx="0" cy="103454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9789158" y="2429487"/>
              <a:ext cx="0" cy="1048556"/>
            </a:xfrm>
            <a:prstGeom prst="line">
              <a:avLst/>
            </a:prstGeom>
            <a:ln w="381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319541" y="933666"/>
              <a:ext cx="5538943" cy="1495821"/>
              <a:chOff x="0" y="0"/>
              <a:chExt cx="3344046" cy="903077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3344046" cy="903077"/>
              </a:xfrm>
              <a:custGeom>
                <a:avLst/>
                <a:gdLst/>
                <a:ahLst/>
                <a:cxnLst/>
                <a:rect l="l" t="t" r="r" b="b"/>
                <a:pathLst>
                  <a:path w="3344046" h="903077">
                    <a:moveTo>
                      <a:pt x="95045" y="0"/>
                    </a:moveTo>
                    <a:lnTo>
                      <a:pt x="3249001" y="0"/>
                    </a:lnTo>
                    <a:cubicBezTo>
                      <a:pt x="3301493" y="0"/>
                      <a:pt x="3344046" y="42553"/>
                      <a:pt x="3344046" y="95045"/>
                    </a:cubicBezTo>
                    <a:lnTo>
                      <a:pt x="3344046" y="808032"/>
                    </a:lnTo>
                    <a:cubicBezTo>
                      <a:pt x="3344046" y="860524"/>
                      <a:pt x="3301493" y="903077"/>
                      <a:pt x="3249001" y="903077"/>
                    </a:cubicBezTo>
                    <a:lnTo>
                      <a:pt x="95045" y="903077"/>
                    </a:lnTo>
                    <a:cubicBezTo>
                      <a:pt x="69838" y="903077"/>
                      <a:pt x="45663" y="893064"/>
                      <a:pt x="27838" y="875239"/>
                    </a:cubicBezTo>
                    <a:cubicBezTo>
                      <a:pt x="10014" y="857415"/>
                      <a:pt x="0" y="833240"/>
                      <a:pt x="0" y="808032"/>
                    </a:cubicBezTo>
                    <a:lnTo>
                      <a:pt x="0" y="95045"/>
                    </a:lnTo>
                    <a:cubicBezTo>
                      <a:pt x="0" y="42553"/>
                      <a:pt x="42553" y="0"/>
                      <a:pt x="95045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3344046" cy="941177"/>
              </a:xfrm>
              <a:prstGeom prst="rect">
                <a:avLst/>
              </a:prstGeom>
            </p:spPr>
            <p:txBody>
              <a:bodyPr lIns="16621" tIns="16621" rIns="16621" bIns="16621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7804644" y="1341961"/>
              <a:ext cx="4041485" cy="10916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590"/>
                </a:lnSpc>
              </a:pPr>
              <a:r>
                <a:rPr lang="en-US" sz="1280" b="1" spc="-82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 Access Layer (JPA)</a:t>
              </a:r>
            </a:p>
            <a:p>
              <a:pPr algn="just">
                <a:lnSpc>
                  <a:spcPts val="1590"/>
                </a:lnSpc>
              </a:pPr>
              <a:endParaRPr lang="en-US" sz="1280" b="1" spc="-8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700"/>
                </a:lnSpc>
              </a:pPr>
              <a:r>
                <a:rPr lang="en-US" sz="1370" spc="-87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Repositories  •  Entities  •  ORM Mapping</a:t>
              </a:r>
            </a:p>
            <a:p>
              <a:pPr algn="just">
                <a:lnSpc>
                  <a:spcPts val="1720"/>
                </a:lnSpc>
              </a:pPr>
              <a:endParaRPr lang="en-US" sz="1370" spc="-87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7319541" y="3478042"/>
              <a:ext cx="5538943" cy="1495821"/>
              <a:chOff x="0" y="0"/>
              <a:chExt cx="3344046" cy="90307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3344046" cy="903077"/>
              </a:xfrm>
              <a:custGeom>
                <a:avLst/>
                <a:gdLst/>
                <a:ahLst/>
                <a:cxnLst/>
                <a:rect l="l" t="t" r="r" b="b"/>
                <a:pathLst>
                  <a:path w="3344046" h="903077">
                    <a:moveTo>
                      <a:pt x="95045" y="0"/>
                    </a:moveTo>
                    <a:lnTo>
                      <a:pt x="3249001" y="0"/>
                    </a:lnTo>
                    <a:cubicBezTo>
                      <a:pt x="3301493" y="0"/>
                      <a:pt x="3344046" y="42553"/>
                      <a:pt x="3344046" y="95045"/>
                    </a:cubicBezTo>
                    <a:lnTo>
                      <a:pt x="3344046" y="808032"/>
                    </a:lnTo>
                    <a:cubicBezTo>
                      <a:pt x="3344046" y="860524"/>
                      <a:pt x="3301493" y="903077"/>
                      <a:pt x="3249001" y="903077"/>
                    </a:cubicBezTo>
                    <a:lnTo>
                      <a:pt x="95045" y="903077"/>
                    </a:lnTo>
                    <a:cubicBezTo>
                      <a:pt x="69838" y="903077"/>
                      <a:pt x="45663" y="893064"/>
                      <a:pt x="27838" y="875239"/>
                    </a:cubicBezTo>
                    <a:cubicBezTo>
                      <a:pt x="10014" y="857415"/>
                      <a:pt x="0" y="833240"/>
                      <a:pt x="0" y="808032"/>
                    </a:cubicBezTo>
                    <a:lnTo>
                      <a:pt x="0" y="95045"/>
                    </a:lnTo>
                    <a:cubicBezTo>
                      <a:pt x="0" y="42553"/>
                      <a:pt x="42553" y="0"/>
                      <a:pt x="95045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38100"/>
                <a:ext cx="3344046" cy="941177"/>
              </a:xfrm>
              <a:prstGeom prst="rect">
                <a:avLst/>
              </a:prstGeom>
            </p:spPr>
            <p:txBody>
              <a:bodyPr lIns="16621" tIns="16621" rIns="16621" bIns="16621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7804644" y="3828477"/>
              <a:ext cx="5273837" cy="111616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320"/>
                </a:lnSpc>
              </a:pPr>
              <a:r>
                <a:rPr lang="en-US" sz="1065" b="1" spc="-68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Database Layer</a:t>
              </a:r>
            </a:p>
            <a:p>
              <a:pPr algn="just">
                <a:lnSpc>
                  <a:spcPts val="1320"/>
                </a:lnSpc>
              </a:pPr>
              <a:endParaRPr lang="en-US" sz="1065" b="1" spc="-68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320"/>
                </a:lnSpc>
              </a:pPr>
              <a:r>
                <a:rPr lang="en-US" sz="1065" spc="-68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MySQL (Relational)  •  MongoDB (Documents)  •  Redis (Cache)</a:t>
              </a:r>
            </a:p>
            <a:p>
              <a:pPr algn="just">
                <a:lnSpc>
                  <a:spcPts val="1320"/>
                </a:lnSpc>
              </a:pPr>
              <a:endParaRPr lang="en-US" sz="1065" spc="-68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1430"/>
                </a:lnSpc>
              </a:pPr>
              <a:endParaRPr lang="en-US" sz="1065" spc="-68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7319541" y="6003417"/>
              <a:ext cx="5538943" cy="1495821"/>
              <a:chOff x="0" y="0"/>
              <a:chExt cx="3344046" cy="90307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344046" cy="903077"/>
              </a:xfrm>
              <a:custGeom>
                <a:avLst/>
                <a:gdLst/>
                <a:ahLst/>
                <a:cxnLst/>
                <a:rect l="l" t="t" r="r" b="b"/>
                <a:pathLst>
                  <a:path w="3344046" h="903077">
                    <a:moveTo>
                      <a:pt x="95045" y="0"/>
                    </a:moveTo>
                    <a:lnTo>
                      <a:pt x="3249001" y="0"/>
                    </a:lnTo>
                    <a:cubicBezTo>
                      <a:pt x="3301493" y="0"/>
                      <a:pt x="3344046" y="42553"/>
                      <a:pt x="3344046" y="95045"/>
                    </a:cubicBezTo>
                    <a:lnTo>
                      <a:pt x="3344046" y="808032"/>
                    </a:lnTo>
                    <a:cubicBezTo>
                      <a:pt x="3344046" y="860524"/>
                      <a:pt x="3301493" y="903077"/>
                      <a:pt x="3249001" y="903077"/>
                    </a:cubicBezTo>
                    <a:lnTo>
                      <a:pt x="95045" y="903077"/>
                    </a:lnTo>
                    <a:cubicBezTo>
                      <a:pt x="69838" y="903077"/>
                      <a:pt x="45663" y="893064"/>
                      <a:pt x="27838" y="875239"/>
                    </a:cubicBezTo>
                    <a:cubicBezTo>
                      <a:pt x="10014" y="857415"/>
                      <a:pt x="0" y="833240"/>
                      <a:pt x="0" y="808032"/>
                    </a:cubicBezTo>
                    <a:lnTo>
                      <a:pt x="0" y="95045"/>
                    </a:lnTo>
                    <a:cubicBezTo>
                      <a:pt x="0" y="42553"/>
                      <a:pt x="42553" y="0"/>
                      <a:pt x="95045" y="0"/>
                    </a:cubicBezTo>
                    <a:close/>
                  </a:path>
                </a:pathLst>
              </a:custGeom>
              <a:solidFill>
                <a:srgbClr val="CFE2F6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38100"/>
                <a:ext cx="3344046" cy="941177"/>
              </a:xfrm>
              <a:prstGeom prst="rect">
                <a:avLst/>
              </a:prstGeom>
            </p:spPr>
            <p:txBody>
              <a:bodyPr lIns="16621" tIns="16621" rIns="16621" bIns="16621" rtlCol="0" anchor="ctr"/>
              <a:lstStyle/>
              <a:p>
                <a:pPr algn="ctr">
                  <a:lnSpc>
                    <a:spcPts val="2590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7800883" y="6349492"/>
              <a:ext cx="5417889" cy="1166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1380"/>
                </a:lnSpc>
              </a:pPr>
              <a:r>
                <a:rPr lang="en-US" sz="1115" b="1" spc="-71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ML Integration Layer Java ML Stack</a:t>
              </a:r>
            </a:p>
            <a:p>
              <a:pPr algn="just">
                <a:lnSpc>
                  <a:spcPts val="1380"/>
                </a:lnSpc>
              </a:pPr>
              <a:endParaRPr lang="en-US" sz="1115" b="1" spc="-7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just">
                <a:lnSpc>
                  <a:spcPts val="1380"/>
                </a:lnSpc>
              </a:pPr>
              <a:r>
                <a:rPr lang="en-US" sz="1115" spc="-71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Weka (ML)  •  DL4J  •  NLP Libraries  •  Tika (OCR) </a:t>
              </a:r>
            </a:p>
            <a:p>
              <a:pPr algn="just">
                <a:lnSpc>
                  <a:spcPts val="1380"/>
                </a:lnSpc>
              </a:pPr>
              <a:endParaRPr lang="en-US" sz="1115" spc="-71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just">
                <a:lnSpc>
                  <a:spcPts val="1495"/>
                </a:lnSpc>
              </a:pPr>
              <a:endParaRPr lang="en-US" sz="1115" spc="-71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  <p:sp>
          <p:nvSpPr>
            <p:cNvPr id="37" name="AutoShape 37"/>
            <p:cNvSpPr/>
            <p:nvPr/>
          </p:nvSpPr>
          <p:spPr>
            <a:xfrm flipH="1">
              <a:off x="9751280" y="0"/>
              <a:ext cx="0" cy="103454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</p:grpSp>
      <p:sp>
        <p:nvSpPr>
          <p:cNvPr id="38" name="AutoShape 38"/>
          <p:cNvSpPr/>
          <p:nvPr/>
        </p:nvSpPr>
        <p:spPr>
          <a:xfrm flipH="1">
            <a:off x="11537725" y="6984252"/>
            <a:ext cx="0" cy="79774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47089" y="6826890"/>
            <a:ext cx="2728557" cy="2387487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1F1F1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27000" y="2921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079946" y="682472"/>
            <a:ext cx="1504914" cy="588932"/>
            <a:chOff x="0" y="0"/>
            <a:chExt cx="396356" cy="1551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6356" cy="155110"/>
            </a:xfrm>
            <a:custGeom>
              <a:avLst/>
              <a:gdLst/>
              <a:ahLst/>
              <a:cxnLst/>
              <a:rect l="l" t="t" r="r" b="b"/>
              <a:pathLst>
                <a:path w="396356" h="155110">
                  <a:moveTo>
                    <a:pt x="77555" y="0"/>
                  </a:moveTo>
                  <a:lnTo>
                    <a:pt x="318801" y="0"/>
                  </a:lnTo>
                  <a:cubicBezTo>
                    <a:pt x="361633" y="0"/>
                    <a:pt x="396356" y="34722"/>
                    <a:pt x="396356" y="77555"/>
                  </a:cubicBezTo>
                  <a:lnTo>
                    <a:pt x="396356" y="77555"/>
                  </a:lnTo>
                  <a:cubicBezTo>
                    <a:pt x="396356" y="120387"/>
                    <a:pt x="361633" y="155110"/>
                    <a:pt x="318801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6356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830240" y="515471"/>
            <a:ext cx="10868784" cy="922933"/>
            <a:chOff x="0" y="0"/>
            <a:chExt cx="2862560" cy="24307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62561" cy="243077"/>
            </a:xfrm>
            <a:custGeom>
              <a:avLst/>
              <a:gdLst/>
              <a:ahLst/>
              <a:cxnLst/>
              <a:rect l="l" t="t" r="r" b="b"/>
              <a:pathLst>
                <a:path w="2862561" h="243077">
                  <a:moveTo>
                    <a:pt x="71231" y="0"/>
                  </a:moveTo>
                  <a:lnTo>
                    <a:pt x="2791330" y="0"/>
                  </a:lnTo>
                  <a:cubicBezTo>
                    <a:pt x="2810221" y="0"/>
                    <a:pt x="2828339" y="7505"/>
                    <a:pt x="2841697" y="20863"/>
                  </a:cubicBezTo>
                  <a:cubicBezTo>
                    <a:pt x="2855056" y="34221"/>
                    <a:pt x="2862561" y="52339"/>
                    <a:pt x="2862561" y="71231"/>
                  </a:cubicBezTo>
                  <a:lnTo>
                    <a:pt x="2862561" y="171846"/>
                  </a:lnTo>
                  <a:cubicBezTo>
                    <a:pt x="2862561" y="190738"/>
                    <a:pt x="2855056" y="208856"/>
                    <a:pt x="2841697" y="222214"/>
                  </a:cubicBezTo>
                  <a:cubicBezTo>
                    <a:pt x="2828339" y="235572"/>
                    <a:pt x="2810221" y="243077"/>
                    <a:pt x="2791330" y="243077"/>
                  </a:cubicBezTo>
                  <a:lnTo>
                    <a:pt x="71231" y="243077"/>
                  </a:lnTo>
                  <a:cubicBezTo>
                    <a:pt x="52339" y="243077"/>
                    <a:pt x="34221" y="235572"/>
                    <a:pt x="20863" y="222214"/>
                  </a:cubicBezTo>
                  <a:cubicBezTo>
                    <a:pt x="7505" y="208856"/>
                    <a:pt x="0" y="190738"/>
                    <a:pt x="0" y="171846"/>
                  </a:cubicBezTo>
                  <a:lnTo>
                    <a:pt x="0" y="71231"/>
                  </a:lnTo>
                  <a:cubicBezTo>
                    <a:pt x="0" y="52339"/>
                    <a:pt x="7505" y="34221"/>
                    <a:pt x="20863" y="20863"/>
                  </a:cubicBezTo>
                  <a:cubicBezTo>
                    <a:pt x="34221" y="7505"/>
                    <a:pt x="52339" y="0"/>
                    <a:pt x="71231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862560" cy="281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r>
                <a:rPr lang="en-US" sz="2050" b="1" spc="4">
                  <a:solidFill>
                    <a:srgbClr val="FD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INSURAI</a:t>
              </a:r>
              <a:r>
                <a:rPr lang="en-US" sz="2050" spc="4">
                  <a:solidFill>
                    <a:srgbClr val="FDFBF7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       </a:t>
              </a:r>
              <a:r>
                <a:rPr lang="en-US" sz="2050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CORPORATE POLICY AUTOMATION &amp; INTELLIGENCE SYSTEM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98758" y="1984734"/>
            <a:ext cx="4601403" cy="39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0"/>
              </a:lnSpc>
            </a:pPr>
            <a:r>
              <a:rPr lang="en-US" sz="2565" spc="-164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INSURAI - USE CASE DIAGRAM: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2857500"/>
            <a:ext cx="14269085" cy="6913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79946" y="682472"/>
            <a:ext cx="1504914" cy="588932"/>
            <a:chOff x="0" y="0"/>
            <a:chExt cx="396356" cy="1551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6356" cy="155110"/>
            </a:xfrm>
            <a:custGeom>
              <a:avLst/>
              <a:gdLst/>
              <a:ahLst/>
              <a:cxnLst/>
              <a:rect l="l" t="t" r="r" b="b"/>
              <a:pathLst>
                <a:path w="396356" h="155110">
                  <a:moveTo>
                    <a:pt x="77555" y="0"/>
                  </a:moveTo>
                  <a:lnTo>
                    <a:pt x="318801" y="0"/>
                  </a:lnTo>
                  <a:cubicBezTo>
                    <a:pt x="361633" y="0"/>
                    <a:pt x="396356" y="34722"/>
                    <a:pt x="396356" y="77555"/>
                  </a:cubicBezTo>
                  <a:lnTo>
                    <a:pt x="396356" y="77555"/>
                  </a:lnTo>
                  <a:cubicBezTo>
                    <a:pt x="396356" y="120387"/>
                    <a:pt x="361633" y="155110"/>
                    <a:pt x="318801" y="155110"/>
                  </a:cubicBezTo>
                  <a:lnTo>
                    <a:pt x="77555" y="155110"/>
                  </a:lnTo>
                  <a:cubicBezTo>
                    <a:pt x="34722" y="155110"/>
                    <a:pt x="0" y="120387"/>
                    <a:pt x="0" y="77555"/>
                  </a:cubicBezTo>
                  <a:lnTo>
                    <a:pt x="0" y="77555"/>
                  </a:lnTo>
                  <a:cubicBezTo>
                    <a:pt x="0" y="34722"/>
                    <a:pt x="34722" y="0"/>
                    <a:pt x="77555" y="0"/>
                  </a:cubicBezTo>
                  <a:close/>
                </a:path>
              </a:pathLst>
            </a:custGeom>
            <a:solidFill>
              <a:srgbClr val="101B4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96356" cy="1932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830240" y="515471"/>
            <a:ext cx="10868784" cy="922933"/>
            <a:chOff x="0" y="0"/>
            <a:chExt cx="2862560" cy="2430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62561" cy="243077"/>
            </a:xfrm>
            <a:custGeom>
              <a:avLst/>
              <a:gdLst/>
              <a:ahLst/>
              <a:cxnLst/>
              <a:rect l="l" t="t" r="r" b="b"/>
              <a:pathLst>
                <a:path w="2862561" h="243077">
                  <a:moveTo>
                    <a:pt x="71231" y="0"/>
                  </a:moveTo>
                  <a:lnTo>
                    <a:pt x="2791330" y="0"/>
                  </a:lnTo>
                  <a:cubicBezTo>
                    <a:pt x="2810221" y="0"/>
                    <a:pt x="2828339" y="7505"/>
                    <a:pt x="2841697" y="20863"/>
                  </a:cubicBezTo>
                  <a:cubicBezTo>
                    <a:pt x="2855056" y="34221"/>
                    <a:pt x="2862561" y="52339"/>
                    <a:pt x="2862561" y="71231"/>
                  </a:cubicBezTo>
                  <a:lnTo>
                    <a:pt x="2862561" y="171846"/>
                  </a:lnTo>
                  <a:cubicBezTo>
                    <a:pt x="2862561" y="190738"/>
                    <a:pt x="2855056" y="208856"/>
                    <a:pt x="2841697" y="222214"/>
                  </a:cubicBezTo>
                  <a:cubicBezTo>
                    <a:pt x="2828339" y="235572"/>
                    <a:pt x="2810221" y="243077"/>
                    <a:pt x="2791330" y="243077"/>
                  </a:cubicBezTo>
                  <a:lnTo>
                    <a:pt x="71231" y="243077"/>
                  </a:lnTo>
                  <a:cubicBezTo>
                    <a:pt x="52339" y="243077"/>
                    <a:pt x="34221" y="235572"/>
                    <a:pt x="20863" y="222214"/>
                  </a:cubicBezTo>
                  <a:cubicBezTo>
                    <a:pt x="7505" y="208856"/>
                    <a:pt x="0" y="190738"/>
                    <a:pt x="0" y="171846"/>
                  </a:cubicBezTo>
                  <a:lnTo>
                    <a:pt x="0" y="71231"/>
                  </a:lnTo>
                  <a:cubicBezTo>
                    <a:pt x="0" y="52339"/>
                    <a:pt x="7505" y="34221"/>
                    <a:pt x="20863" y="20863"/>
                  </a:cubicBezTo>
                  <a:cubicBezTo>
                    <a:pt x="34221" y="7505"/>
                    <a:pt x="52339" y="0"/>
                    <a:pt x="71231" y="0"/>
                  </a:cubicBezTo>
                  <a:close/>
                </a:path>
              </a:pathLst>
            </a:custGeom>
            <a:ln w="38100" cap="rnd">
              <a:solidFill>
                <a:srgbClr val="101B4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862560" cy="2811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70"/>
                </a:lnSpc>
              </a:pPr>
              <a:r>
                <a:rPr lang="en-US" sz="2050" b="1" spc="4">
                  <a:solidFill>
                    <a:srgbClr val="FDFBF7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INSURAI</a:t>
              </a:r>
              <a:r>
                <a:rPr lang="en-US" sz="2050" spc="4">
                  <a:solidFill>
                    <a:srgbClr val="FDFBF7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       </a:t>
              </a:r>
              <a:r>
                <a:rPr lang="en-US" sz="2050" b="1" spc="4">
                  <a:solidFill>
                    <a:srgbClr val="101B4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CORPORATE POLICY AUTOMATION &amp; INTELLIGENCE SYSTEM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8758" y="1984734"/>
            <a:ext cx="3281188" cy="393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0"/>
              </a:lnSpc>
            </a:pPr>
            <a:r>
              <a:rPr lang="en-US" sz="2565" spc="-164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rPr>
              <a:t>INSURAI - MODULES: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628259" y="5809295"/>
            <a:ext cx="3781394" cy="2385237"/>
            <a:chOff x="0" y="0"/>
            <a:chExt cx="995923" cy="62821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5923" cy="628211"/>
            </a:xfrm>
            <a:custGeom>
              <a:avLst/>
              <a:gdLst/>
              <a:ahLst/>
              <a:cxnLst/>
              <a:rect l="l" t="t" r="r" b="b"/>
              <a:pathLst>
                <a:path w="995923" h="628211">
                  <a:moveTo>
                    <a:pt x="104416" y="0"/>
                  </a:moveTo>
                  <a:lnTo>
                    <a:pt x="891507" y="0"/>
                  </a:lnTo>
                  <a:cubicBezTo>
                    <a:pt x="949174" y="0"/>
                    <a:pt x="995923" y="46749"/>
                    <a:pt x="995923" y="104416"/>
                  </a:cubicBezTo>
                  <a:lnTo>
                    <a:pt x="995923" y="523795"/>
                  </a:lnTo>
                  <a:cubicBezTo>
                    <a:pt x="995923" y="581462"/>
                    <a:pt x="949174" y="628211"/>
                    <a:pt x="891507" y="628211"/>
                  </a:cubicBezTo>
                  <a:lnTo>
                    <a:pt x="104416" y="628211"/>
                  </a:lnTo>
                  <a:cubicBezTo>
                    <a:pt x="46749" y="628211"/>
                    <a:pt x="0" y="581462"/>
                    <a:pt x="0" y="523795"/>
                  </a:cubicBezTo>
                  <a:lnTo>
                    <a:pt x="0" y="104416"/>
                  </a:lnTo>
                  <a:cubicBezTo>
                    <a:pt x="0" y="46749"/>
                    <a:pt x="46749" y="0"/>
                    <a:pt x="104416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95923" cy="666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ANALYTICS &amp; DASHBOARD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REAL-TIME INSIGHTS, KPIS, AND PERFORMANCE MONITORING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951819" y="5766235"/>
            <a:ext cx="3161461" cy="2709087"/>
            <a:chOff x="0" y="0"/>
            <a:chExt cx="832648" cy="7135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32648" cy="713504"/>
            </a:xfrm>
            <a:custGeom>
              <a:avLst/>
              <a:gdLst/>
              <a:ahLst/>
              <a:cxnLst/>
              <a:rect l="l" t="t" r="r" b="b"/>
              <a:pathLst>
                <a:path w="832648" h="713504">
                  <a:moveTo>
                    <a:pt x="124891" y="0"/>
                  </a:moveTo>
                  <a:lnTo>
                    <a:pt x="707757" y="0"/>
                  </a:lnTo>
                  <a:cubicBezTo>
                    <a:pt x="740880" y="0"/>
                    <a:pt x="772647" y="13158"/>
                    <a:pt x="796068" y="36580"/>
                  </a:cubicBezTo>
                  <a:cubicBezTo>
                    <a:pt x="819490" y="60001"/>
                    <a:pt x="832648" y="91768"/>
                    <a:pt x="832648" y="124891"/>
                  </a:cubicBezTo>
                  <a:lnTo>
                    <a:pt x="832648" y="588613"/>
                  </a:lnTo>
                  <a:cubicBezTo>
                    <a:pt x="832648" y="621737"/>
                    <a:pt x="819490" y="653503"/>
                    <a:pt x="796068" y="676925"/>
                  </a:cubicBezTo>
                  <a:cubicBezTo>
                    <a:pt x="772647" y="700346"/>
                    <a:pt x="740880" y="713504"/>
                    <a:pt x="707757" y="713504"/>
                  </a:cubicBezTo>
                  <a:lnTo>
                    <a:pt x="124891" y="713504"/>
                  </a:lnTo>
                  <a:cubicBezTo>
                    <a:pt x="91768" y="713504"/>
                    <a:pt x="60001" y="700346"/>
                    <a:pt x="36580" y="676925"/>
                  </a:cubicBezTo>
                  <a:cubicBezTo>
                    <a:pt x="13158" y="653503"/>
                    <a:pt x="0" y="621737"/>
                    <a:pt x="0" y="588613"/>
                  </a:cubicBezTo>
                  <a:lnTo>
                    <a:pt x="0" y="124891"/>
                  </a:lnTo>
                  <a:cubicBezTo>
                    <a:pt x="0" y="91768"/>
                    <a:pt x="13158" y="60001"/>
                    <a:pt x="36580" y="36580"/>
                  </a:cubicBezTo>
                  <a:cubicBezTo>
                    <a:pt x="60001" y="13158"/>
                    <a:pt x="91768" y="0"/>
                    <a:pt x="124891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832648" cy="751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AI/ML INTELLIGENCE ENGINE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CORE NLP, PREDICTION MODELS, AND RECOMMENDATION SYSTEM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640096" y="9034128"/>
            <a:ext cx="1636152" cy="584644"/>
            <a:chOff x="0" y="0"/>
            <a:chExt cx="481215" cy="1719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81215" cy="171952"/>
            </a:xfrm>
            <a:custGeom>
              <a:avLst/>
              <a:gdLst/>
              <a:ahLst/>
              <a:cxnLst/>
              <a:rect l="l" t="t" r="r" b="b"/>
              <a:pathLst>
                <a:path w="481215" h="171952">
                  <a:moveTo>
                    <a:pt x="240608" y="0"/>
                  </a:moveTo>
                  <a:lnTo>
                    <a:pt x="481215" y="171952"/>
                  </a:lnTo>
                  <a:lnTo>
                    <a:pt x="0" y="171952"/>
                  </a:lnTo>
                  <a:lnTo>
                    <a:pt x="240608" y="0"/>
                  </a:lnTo>
                  <a:close/>
                </a:path>
              </a:pathLst>
            </a:custGeom>
            <a:solidFill>
              <a:srgbClr val="F1F1F1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190" y="41735"/>
              <a:ext cx="330836" cy="117935"/>
            </a:xfrm>
            <a:prstGeom prst="rect">
              <a:avLst/>
            </a:prstGeom>
          </p:spPr>
          <p:txBody>
            <a:bodyPr lIns="51452" tIns="51452" rIns="51452" bIns="51452" rtlCol="0" anchor="ctr"/>
            <a:lstStyle/>
            <a:p>
              <a:pPr algn="ctr">
                <a:lnSpc>
                  <a:spcPts val="259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885903" y="2659174"/>
            <a:ext cx="3838245" cy="2386214"/>
            <a:chOff x="0" y="0"/>
            <a:chExt cx="998094" cy="62050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98094" cy="620509"/>
            </a:xfrm>
            <a:custGeom>
              <a:avLst/>
              <a:gdLst/>
              <a:ahLst/>
              <a:cxnLst/>
              <a:rect l="l" t="t" r="r" b="b"/>
              <a:pathLst>
                <a:path w="998094" h="620509">
                  <a:moveTo>
                    <a:pt x="102869" y="0"/>
                  </a:moveTo>
                  <a:lnTo>
                    <a:pt x="895225" y="0"/>
                  </a:lnTo>
                  <a:cubicBezTo>
                    <a:pt x="922507" y="0"/>
                    <a:pt x="948673" y="10838"/>
                    <a:pt x="967964" y="30130"/>
                  </a:cubicBezTo>
                  <a:cubicBezTo>
                    <a:pt x="987256" y="49421"/>
                    <a:pt x="998094" y="75587"/>
                    <a:pt x="998094" y="102869"/>
                  </a:cubicBezTo>
                  <a:lnTo>
                    <a:pt x="998094" y="517640"/>
                  </a:lnTo>
                  <a:cubicBezTo>
                    <a:pt x="998094" y="544923"/>
                    <a:pt x="987256" y="571088"/>
                    <a:pt x="967964" y="590380"/>
                  </a:cubicBezTo>
                  <a:cubicBezTo>
                    <a:pt x="948673" y="609671"/>
                    <a:pt x="922507" y="620509"/>
                    <a:pt x="895225" y="620509"/>
                  </a:cubicBezTo>
                  <a:lnTo>
                    <a:pt x="102869" y="620509"/>
                  </a:lnTo>
                  <a:cubicBezTo>
                    <a:pt x="75587" y="620509"/>
                    <a:pt x="49421" y="609671"/>
                    <a:pt x="30130" y="590380"/>
                  </a:cubicBezTo>
                  <a:cubicBezTo>
                    <a:pt x="10838" y="571088"/>
                    <a:pt x="0" y="544923"/>
                    <a:pt x="0" y="517640"/>
                  </a:cubicBezTo>
                  <a:lnTo>
                    <a:pt x="0" y="102869"/>
                  </a:lnTo>
                  <a:cubicBezTo>
                    <a:pt x="0" y="75587"/>
                    <a:pt x="10838" y="49421"/>
                    <a:pt x="30130" y="30130"/>
                  </a:cubicBezTo>
                  <a:cubicBezTo>
                    <a:pt x="49421" y="10838"/>
                    <a:pt x="75587" y="0"/>
                    <a:pt x="102869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98094" cy="658609"/>
            </a:xfrm>
            <a:prstGeom prst="rect">
              <a:avLst/>
            </a:prstGeom>
          </p:spPr>
          <p:txBody>
            <a:bodyPr lIns="51452" tIns="51452" rIns="51452" bIns="51452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FRAUD RISK SCORING SYSTEM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ML DETECTION</a:t>
              </a: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REAL-TIME RISK ALERTS</a:t>
              </a:r>
            </a:p>
            <a:p>
              <a:pPr algn="ctr">
                <a:lnSpc>
                  <a:spcPts val="2590"/>
                </a:lnSpc>
              </a:pPr>
              <a:endParaRPr lang="en-US" sz="1850" spc="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1272" y="5809295"/>
            <a:ext cx="2650152" cy="2710064"/>
            <a:chOff x="0" y="0"/>
            <a:chExt cx="689144" cy="70472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9144" cy="704723"/>
            </a:xfrm>
            <a:custGeom>
              <a:avLst/>
              <a:gdLst/>
              <a:ahLst/>
              <a:cxnLst/>
              <a:rect l="l" t="t" r="r" b="b"/>
              <a:pathLst>
                <a:path w="689144" h="704723">
                  <a:moveTo>
                    <a:pt x="148987" y="0"/>
                  </a:moveTo>
                  <a:lnTo>
                    <a:pt x="540157" y="0"/>
                  </a:lnTo>
                  <a:cubicBezTo>
                    <a:pt x="579670" y="0"/>
                    <a:pt x="617566" y="15697"/>
                    <a:pt x="645506" y="43637"/>
                  </a:cubicBezTo>
                  <a:cubicBezTo>
                    <a:pt x="673447" y="71578"/>
                    <a:pt x="689144" y="109473"/>
                    <a:pt x="689144" y="148987"/>
                  </a:cubicBezTo>
                  <a:lnTo>
                    <a:pt x="689144" y="555736"/>
                  </a:lnTo>
                  <a:cubicBezTo>
                    <a:pt x="689144" y="638019"/>
                    <a:pt x="622440" y="704723"/>
                    <a:pt x="540157" y="704723"/>
                  </a:cubicBezTo>
                  <a:lnTo>
                    <a:pt x="148987" y="704723"/>
                  </a:lnTo>
                  <a:cubicBezTo>
                    <a:pt x="66704" y="704723"/>
                    <a:pt x="0" y="638019"/>
                    <a:pt x="0" y="555736"/>
                  </a:cubicBezTo>
                  <a:lnTo>
                    <a:pt x="0" y="148987"/>
                  </a:lnTo>
                  <a:cubicBezTo>
                    <a:pt x="0" y="66704"/>
                    <a:pt x="66704" y="0"/>
                    <a:pt x="148987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689144" cy="742823"/>
            </a:xfrm>
            <a:prstGeom prst="rect">
              <a:avLst/>
            </a:prstGeom>
          </p:spPr>
          <p:txBody>
            <a:bodyPr lIns="51452" tIns="51452" rIns="51452" bIns="51452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COMPLIANCE AUTOMATION 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• RULE VALIDATION</a:t>
              </a: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• AUDIT TRAILS</a:t>
              </a: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• MONITORING</a:t>
              </a:r>
              <a:r>
                <a:rPr lang="en-US" sz="1850" spc="3">
                  <a:solidFill>
                    <a:srgbClr val="FFFFFF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 </a:t>
              </a:r>
            </a:p>
            <a:p>
              <a:pPr algn="ctr">
                <a:lnSpc>
                  <a:spcPts val="2590"/>
                </a:lnSpc>
              </a:pPr>
              <a:endParaRPr lang="en-US" sz="1850" spc="3">
                <a:solidFill>
                  <a:srgbClr val="FFFFFF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  <a:p>
              <a:pPr algn="ctr">
                <a:lnSpc>
                  <a:spcPts val="2590"/>
                </a:lnSpc>
              </a:pPr>
              <a:endParaRPr lang="en-US" sz="1850" spc="3">
                <a:solidFill>
                  <a:srgbClr val="FFFFFF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791951" y="8475322"/>
            <a:ext cx="7123643" cy="1457572"/>
            <a:chOff x="0" y="0"/>
            <a:chExt cx="1852427" cy="37902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852427" cy="379026"/>
            </a:xfrm>
            <a:custGeom>
              <a:avLst/>
              <a:gdLst/>
              <a:ahLst/>
              <a:cxnLst/>
              <a:rect l="l" t="t" r="r" b="b"/>
              <a:pathLst>
                <a:path w="1852427" h="379026">
                  <a:moveTo>
                    <a:pt x="55426" y="0"/>
                  </a:moveTo>
                  <a:lnTo>
                    <a:pt x="1797000" y="0"/>
                  </a:lnTo>
                  <a:cubicBezTo>
                    <a:pt x="1827612" y="0"/>
                    <a:pt x="1852427" y="24815"/>
                    <a:pt x="1852427" y="55426"/>
                  </a:cubicBezTo>
                  <a:lnTo>
                    <a:pt x="1852427" y="323600"/>
                  </a:lnTo>
                  <a:cubicBezTo>
                    <a:pt x="1852427" y="354211"/>
                    <a:pt x="1827612" y="379026"/>
                    <a:pt x="1797000" y="379026"/>
                  </a:cubicBezTo>
                  <a:lnTo>
                    <a:pt x="55426" y="379026"/>
                  </a:lnTo>
                  <a:cubicBezTo>
                    <a:pt x="24815" y="379026"/>
                    <a:pt x="0" y="354211"/>
                    <a:pt x="0" y="323600"/>
                  </a:cubicBezTo>
                  <a:lnTo>
                    <a:pt x="0" y="55426"/>
                  </a:lnTo>
                  <a:cubicBezTo>
                    <a:pt x="0" y="24815"/>
                    <a:pt x="24815" y="0"/>
                    <a:pt x="55426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852427" cy="417126"/>
            </a:xfrm>
            <a:prstGeom prst="rect">
              <a:avLst/>
            </a:prstGeom>
          </p:spPr>
          <p:txBody>
            <a:bodyPr lIns="51452" tIns="51452" rIns="51452" bIns="51452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ADMIN CONTROL PANEL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SYSTEM CONFIGURATION, USER MANAGEMENT, AND RULE ADMINISTRATION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924003" y="5422035"/>
            <a:ext cx="3800145" cy="2730833"/>
            <a:chOff x="0" y="0"/>
            <a:chExt cx="988187" cy="7101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88187" cy="710124"/>
            </a:xfrm>
            <a:custGeom>
              <a:avLst/>
              <a:gdLst/>
              <a:ahLst/>
              <a:cxnLst/>
              <a:rect l="l" t="t" r="r" b="b"/>
              <a:pathLst>
                <a:path w="988187" h="710124">
                  <a:moveTo>
                    <a:pt x="103901" y="0"/>
                  </a:moveTo>
                  <a:lnTo>
                    <a:pt x="884286" y="0"/>
                  </a:lnTo>
                  <a:cubicBezTo>
                    <a:pt x="941669" y="0"/>
                    <a:pt x="988187" y="46518"/>
                    <a:pt x="988187" y="103901"/>
                  </a:cubicBezTo>
                  <a:lnTo>
                    <a:pt x="988187" y="606223"/>
                  </a:lnTo>
                  <a:cubicBezTo>
                    <a:pt x="988187" y="663606"/>
                    <a:pt x="941669" y="710124"/>
                    <a:pt x="884286" y="710124"/>
                  </a:cubicBezTo>
                  <a:lnTo>
                    <a:pt x="103901" y="710124"/>
                  </a:lnTo>
                  <a:cubicBezTo>
                    <a:pt x="46518" y="710124"/>
                    <a:pt x="0" y="663606"/>
                    <a:pt x="0" y="606223"/>
                  </a:cubicBezTo>
                  <a:lnTo>
                    <a:pt x="0" y="103901"/>
                  </a:lnTo>
                  <a:cubicBezTo>
                    <a:pt x="0" y="46518"/>
                    <a:pt x="46518" y="0"/>
                    <a:pt x="103901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988187" cy="748224"/>
            </a:xfrm>
            <a:prstGeom prst="rect">
              <a:avLst/>
            </a:prstGeom>
          </p:spPr>
          <p:txBody>
            <a:bodyPr lIns="51452" tIns="51452" rIns="51452" bIns="51452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DOCUMENT MANAGEMENT SYSTEM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SECURE FILE UPLOAD, OCR PROCESSING, AND DOCUMENT STORAGE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98758" y="8648576"/>
            <a:ext cx="7707870" cy="1219447"/>
            <a:chOff x="0" y="0"/>
            <a:chExt cx="2004348" cy="3171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04348" cy="317104"/>
            </a:xfrm>
            <a:custGeom>
              <a:avLst/>
              <a:gdLst/>
              <a:ahLst/>
              <a:cxnLst/>
              <a:rect l="l" t="t" r="r" b="b"/>
              <a:pathLst>
                <a:path w="2004348" h="317104">
                  <a:moveTo>
                    <a:pt x="51225" y="0"/>
                  </a:moveTo>
                  <a:lnTo>
                    <a:pt x="1953123" y="0"/>
                  </a:lnTo>
                  <a:cubicBezTo>
                    <a:pt x="1981414" y="0"/>
                    <a:pt x="2004348" y="22934"/>
                    <a:pt x="2004348" y="51225"/>
                  </a:cubicBezTo>
                  <a:lnTo>
                    <a:pt x="2004348" y="265879"/>
                  </a:lnTo>
                  <a:cubicBezTo>
                    <a:pt x="2004348" y="294170"/>
                    <a:pt x="1981414" y="317104"/>
                    <a:pt x="1953123" y="317104"/>
                  </a:cubicBezTo>
                  <a:lnTo>
                    <a:pt x="51225" y="317104"/>
                  </a:lnTo>
                  <a:cubicBezTo>
                    <a:pt x="22934" y="317104"/>
                    <a:pt x="0" y="294170"/>
                    <a:pt x="0" y="265879"/>
                  </a:cubicBezTo>
                  <a:lnTo>
                    <a:pt x="0" y="51225"/>
                  </a:lnTo>
                  <a:cubicBezTo>
                    <a:pt x="0" y="22934"/>
                    <a:pt x="22934" y="0"/>
                    <a:pt x="51225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004348" cy="355204"/>
            </a:xfrm>
            <a:prstGeom prst="rect">
              <a:avLst/>
            </a:prstGeom>
          </p:spPr>
          <p:txBody>
            <a:bodyPr lIns="51452" tIns="51452" rIns="51452" bIns="51452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NOTIFICATION SYSTEM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algn="ctr">
                <a:lnSpc>
                  <a:spcPts val="2590"/>
                </a:lnSpc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EMAIL/SMS ALERTS, REMINDERS, AND SYSTEM NOTIFICATIONS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26015" y="2769950"/>
            <a:ext cx="2659079" cy="2753595"/>
            <a:chOff x="0" y="0"/>
            <a:chExt cx="696434" cy="7211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96434" cy="721188"/>
            </a:xfrm>
            <a:custGeom>
              <a:avLst/>
              <a:gdLst/>
              <a:ahLst/>
              <a:cxnLst/>
              <a:rect l="l" t="t" r="r" b="b"/>
              <a:pathLst>
                <a:path w="696434" h="721188">
                  <a:moveTo>
                    <a:pt x="148487" y="0"/>
                  </a:moveTo>
                  <a:lnTo>
                    <a:pt x="547947" y="0"/>
                  </a:lnTo>
                  <a:cubicBezTo>
                    <a:pt x="587328" y="0"/>
                    <a:pt x="625096" y="15644"/>
                    <a:pt x="652943" y="43491"/>
                  </a:cubicBezTo>
                  <a:cubicBezTo>
                    <a:pt x="680789" y="71337"/>
                    <a:pt x="696434" y="109106"/>
                    <a:pt x="696434" y="148487"/>
                  </a:cubicBezTo>
                  <a:lnTo>
                    <a:pt x="696434" y="572701"/>
                  </a:lnTo>
                  <a:cubicBezTo>
                    <a:pt x="696434" y="654708"/>
                    <a:pt x="629954" y="721188"/>
                    <a:pt x="547947" y="721188"/>
                  </a:cubicBezTo>
                  <a:lnTo>
                    <a:pt x="148487" y="721188"/>
                  </a:lnTo>
                  <a:cubicBezTo>
                    <a:pt x="109106" y="721188"/>
                    <a:pt x="71337" y="705544"/>
                    <a:pt x="43491" y="677697"/>
                  </a:cubicBezTo>
                  <a:cubicBezTo>
                    <a:pt x="15644" y="649850"/>
                    <a:pt x="0" y="612082"/>
                    <a:pt x="0" y="572701"/>
                  </a:cubicBezTo>
                  <a:lnTo>
                    <a:pt x="0" y="148487"/>
                  </a:lnTo>
                  <a:cubicBezTo>
                    <a:pt x="0" y="109106"/>
                    <a:pt x="15644" y="71337"/>
                    <a:pt x="43491" y="43491"/>
                  </a:cubicBezTo>
                  <a:cubicBezTo>
                    <a:pt x="71337" y="15644"/>
                    <a:pt x="109106" y="0"/>
                    <a:pt x="148487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696434" cy="759288"/>
            </a:xfrm>
            <a:prstGeom prst="rect">
              <a:avLst/>
            </a:prstGeom>
          </p:spPr>
          <p:txBody>
            <a:bodyPr lIns="51084" tIns="51084" rIns="51084" bIns="51084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AUTHENTICATION &amp; USER MANAGEMENT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SECURE LOGIN</a:t>
              </a: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JWT AUTHENTICATION</a:t>
              </a: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ROLE-BASED </a:t>
              </a:r>
            </a:p>
            <a:p>
              <a:pPr algn="ctr">
                <a:lnSpc>
                  <a:spcPts val="2590"/>
                </a:lnSpc>
              </a:pPr>
              <a:endParaRPr lang="en-US" sz="1850" spc="3">
                <a:solidFill>
                  <a:srgbClr val="000000"/>
                </a:solidFill>
                <a:latin typeface="Montserrat" panose="00000800000000000000"/>
                <a:ea typeface="Montserrat" panose="00000800000000000000"/>
                <a:cs typeface="Montserrat" panose="00000800000000000000"/>
                <a:sym typeface="Montserrat" panose="00000800000000000000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405919" y="2769950"/>
            <a:ext cx="4003734" cy="2593123"/>
            <a:chOff x="0" y="0"/>
            <a:chExt cx="1035330" cy="67055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035330" cy="670559"/>
            </a:xfrm>
            <a:custGeom>
              <a:avLst/>
              <a:gdLst/>
              <a:ahLst/>
              <a:cxnLst/>
              <a:rect l="l" t="t" r="r" b="b"/>
              <a:pathLst>
                <a:path w="1035330" h="670559">
                  <a:moveTo>
                    <a:pt x="98617" y="0"/>
                  </a:moveTo>
                  <a:lnTo>
                    <a:pt x="936713" y="0"/>
                  </a:lnTo>
                  <a:cubicBezTo>
                    <a:pt x="962868" y="0"/>
                    <a:pt x="987951" y="10390"/>
                    <a:pt x="1006446" y="28884"/>
                  </a:cubicBezTo>
                  <a:cubicBezTo>
                    <a:pt x="1024940" y="47379"/>
                    <a:pt x="1035330" y="72462"/>
                    <a:pt x="1035330" y="98617"/>
                  </a:cubicBezTo>
                  <a:lnTo>
                    <a:pt x="1035330" y="571941"/>
                  </a:lnTo>
                  <a:cubicBezTo>
                    <a:pt x="1035330" y="598096"/>
                    <a:pt x="1024940" y="623180"/>
                    <a:pt x="1006446" y="641674"/>
                  </a:cubicBezTo>
                  <a:cubicBezTo>
                    <a:pt x="987951" y="660169"/>
                    <a:pt x="962868" y="670559"/>
                    <a:pt x="936713" y="670559"/>
                  </a:cubicBezTo>
                  <a:lnTo>
                    <a:pt x="98617" y="670559"/>
                  </a:lnTo>
                  <a:cubicBezTo>
                    <a:pt x="72462" y="670559"/>
                    <a:pt x="47379" y="660169"/>
                    <a:pt x="28884" y="641674"/>
                  </a:cubicBezTo>
                  <a:cubicBezTo>
                    <a:pt x="10390" y="623180"/>
                    <a:pt x="0" y="598096"/>
                    <a:pt x="0" y="571941"/>
                  </a:cubicBezTo>
                  <a:lnTo>
                    <a:pt x="0" y="98617"/>
                  </a:lnTo>
                  <a:cubicBezTo>
                    <a:pt x="0" y="72462"/>
                    <a:pt x="10390" y="47379"/>
                    <a:pt x="28884" y="28884"/>
                  </a:cubicBezTo>
                  <a:cubicBezTo>
                    <a:pt x="47379" y="10390"/>
                    <a:pt x="72462" y="0"/>
                    <a:pt x="98617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035330" cy="708659"/>
            </a:xfrm>
            <a:prstGeom prst="rect">
              <a:avLst/>
            </a:prstGeom>
          </p:spPr>
          <p:txBody>
            <a:bodyPr lIns="51740" tIns="51740" rIns="51740" bIns="51740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SMART CLAIMS PROCESSING ENGINE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AUTOMATED CLAIM VALIDATION</a:t>
              </a: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WORKFLOW MANAGEMENT</a:t>
              </a: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SETTLEMENT PROCESSING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951819" y="2872341"/>
            <a:ext cx="2990738" cy="2398594"/>
            <a:chOff x="0" y="0"/>
            <a:chExt cx="783298" cy="628211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83298" cy="628211"/>
            </a:xfrm>
            <a:custGeom>
              <a:avLst/>
              <a:gdLst/>
              <a:ahLst/>
              <a:cxnLst/>
              <a:rect l="l" t="t" r="r" b="b"/>
              <a:pathLst>
                <a:path w="783298" h="628211">
                  <a:moveTo>
                    <a:pt x="132020" y="0"/>
                  </a:moveTo>
                  <a:lnTo>
                    <a:pt x="651277" y="0"/>
                  </a:lnTo>
                  <a:cubicBezTo>
                    <a:pt x="724190" y="0"/>
                    <a:pt x="783298" y="59107"/>
                    <a:pt x="783298" y="132020"/>
                  </a:cubicBezTo>
                  <a:lnTo>
                    <a:pt x="783298" y="496190"/>
                  </a:lnTo>
                  <a:cubicBezTo>
                    <a:pt x="783298" y="531204"/>
                    <a:pt x="769388" y="564784"/>
                    <a:pt x="744630" y="589543"/>
                  </a:cubicBezTo>
                  <a:cubicBezTo>
                    <a:pt x="719871" y="614301"/>
                    <a:pt x="686291" y="628211"/>
                    <a:pt x="651277" y="628211"/>
                  </a:cubicBezTo>
                  <a:lnTo>
                    <a:pt x="132020" y="628211"/>
                  </a:lnTo>
                  <a:cubicBezTo>
                    <a:pt x="97006" y="628211"/>
                    <a:pt x="63426" y="614301"/>
                    <a:pt x="38668" y="589543"/>
                  </a:cubicBezTo>
                  <a:cubicBezTo>
                    <a:pt x="13909" y="564784"/>
                    <a:pt x="0" y="531204"/>
                    <a:pt x="0" y="496190"/>
                  </a:cubicBezTo>
                  <a:lnTo>
                    <a:pt x="0" y="132020"/>
                  </a:lnTo>
                  <a:cubicBezTo>
                    <a:pt x="0" y="97006"/>
                    <a:pt x="13909" y="63426"/>
                    <a:pt x="38668" y="38668"/>
                  </a:cubicBezTo>
                  <a:cubicBezTo>
                    <a:pt x="63426" y="13909"/>
                    <a:pt x="97006" y="0"/>
                    <a:pt x="132020" y="0"/>
                  </a:cubicBezTo>
                  <a:close/>
                </a:path>
              </a:pathLst>
            </a:custGeom>
            <a:solidFill>
              <a:srgbClr val="CFE2F6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83298" cy="666311"/>
            </a:xfrm>
            <a:prstGeom prst="rect">
              <a:avLst/>
            </a:prstGeom>
          </p:spPr>
          <p:txBody>
            <a:bodyPr lIns="51084" tIns="51084" rIns="51084" bIns="51084" rtlCol="0" anchor="ctr"/>
            <a:lstStyle/>
            <a:p>
              <a:pPr algn="ctr">
                <a:lnSpc>
                  <a:spcPts val="2590"/>
                </a:lnSpc>
              </a:pPr>
              <a:r>
                <a:rPr lang="en-US" sz="1850" b="1" spc="3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POLICY INTELLIGENCE ENGINE</a:t>
              </a:r>
            </a:p>
            <a:p>
              <a:pPr algn="ctr">
                <a:lnSpc>
                  <a:spcPts val="2590"/>
                </a:lnSpc>
              </a:pPr>
              <a:endParaRPr lang="en-US" sz="1850" b="1" spc="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AI-POWERED POLICY ANALYSIS,</a:t>
              </a: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NLP EXTRACTION</a:t>
              </a:r>
            </a:p>
            <a:p>
              <a:pPr marL="399415" lvl="1" indent="-200025" algn="ctr">
                <a:lnSpc>
                  <a:spcPts val="2590"/>
                </a:lnSpc>
                <a:buFont typeface="Arial" panose="020B0604020202090204"/>
                <a:buChar char="•"/>
              </a:pPr>
              <a:r>
                <a:rPr lang="en-US" sz="1850" spc="3">
                  <a:solidFill>
                    <a:srgbClr val="000000"/>
                  </a:solidFill>
                  <a:latin typeface="Montserrat" panose="00000800000000000000"/>
                  <a:ea typeface="Montserrat" panose="00000800000000000000"/>
                  <a:cs typeface="Montserrat" panose="00000800000000000000"/>
                  <a:sym typeface="Montserrat" panose="00000800000000000000"/>
                </a:rPr>
                <a:t> COMPARISON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470</Words>
  <Application>Microsoft Office PowerPoint</Application>
  <PresentationFormat>Custom</PresentationFormat>
  <Paragraphs>108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InsurAI</dc:title>
  <dc:creator>Satwika Bitla</dc:creator>
  <cp:lastModifiedBy>Maya Swarsha</cp:lastModifiedBy>
  <cp:revision>4</cp:revision>
  <dcterms:created xsi:type="dcterms:W3CDTF">2026-03-25T14:28:31Z</dcterms:created>
  <dcterms:modified xsi:type="dcterms:W3CDTF">2026-04-04T14:22:48Z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4365EF307B211EF70FF1C3694409C1E0_43</vt:lpwstr>
  </property>
  <property fmtid="{D5CDD505-2E9C-101B-9397-08002B2CF9AE}" pid="3" name="KSOProductBuildVer">
    <vt:lpwstr>1033-12.1.23143.23143</vt:lpwstr>
  </property>
</Properties>
</file>